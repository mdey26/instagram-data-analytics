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Agrandir Wide" charset="1" panose="00000505000000000000"/>
      <p:regular r:id="rId20"/>
    </p:embeddedFont>
    <p:embeddedFont>
      <p:font typeface="Agrandir Wide Italics" charset="1" panose="0000050500000000000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4F0E9"/>
        </a:solidFill>
      </p:bgPr>
    </p:bg>
    <p:spTree>
      <p:nvGrpSpPr>
        <p:cNvPr id="1" name=""/>
        <p:cNvGrpSpPr/>
        <p:nvPr/>
      </p:nvGrpSpPr>
      <p:grpSpPr>
        <a:xfrm>
          <a:off x="0" y="0"/>
          <a:ext cx="0" cy="0"/>
          <a:chOff x="0" y="0"/>
          <a:chExt cx="0" cy="0"/>
        </a:xfrm>
      </p:grpSpPr>
      <p:sp>
        <p:nvSpPr>
          <p:cNvPr name="Freeform 2" id="2"/>
          <p:cNvSpPr/>
          <p:nvPr/>
        </p:nvSpPr>
        <p:spPr>
          <a:xfrm flipH="false" flipV="false" rot="0">
            <a:off x="10149692" y="3633028"/>
            <a:ext cx="7383048" cy="6653972"/>
          </a:xfrm>
          <a:custGeom>
            <a:avLst/>
            <a:gdLst/>
            <a:ahLst/>
            <a:cxnLst/>
            <a:rect r="r" b="b" t="t" l="l"/>
            <a:pathLst>
              <a:path h="6653972" w="7383048">
                <a:moveTo>
                  <a:pt x="0" y="0"/>
                </a:moveTo>
                <a:lnTo>
                  <a:pt x="7383048" y="0"/>
                </a:lnTo>
                <a:lnTo>
                  <a:pt x="7383048" y="6653972"/>
                </a:lnTo>
                <a:lnTo>
                  <a:pt x="0" y="66539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84442" y="810373"/>
            <a:ext cx="13968673" cy="3841984"/>
          </a:xfrm>
          <a:prstGeom prst="rect">
            <a:avLst/>
          </a:prstGeom>
        </p:spPr>
        <p:txBody>
          <a:bodyPr anchor="t" rtlCol="false" tIns="0" lIns="0" bIns="0" rIns="0">
            <a:spAutoFit/>
          </a:bodyPr>
          <a:lstStyle/>
          <a:p>
            <a:pPr algn="l">
              <a:lnSpc>
                <a:spcPts val="13200"/>
              </a:lnSpc>
            </a:pPr>
            <a:r>
              <a:rPr lang="en-US" sz="13894">
                <a:solidFill>
                  <a:srgbClr val="000000"/>
                </a:solidFill>
                <a:latin typeface="Agrandir Wide"/>
                <a:ea typeface="Agrandir Wide"/>
                <a:cs typeface="Agrandir Wide"/>
                <a:sym typeface="Agrandir Wide"/>
              </a:rPr>
              <a:t>Project Report</a:t>
            </a:r>
          </a:p>
        </p:txBody>
      </p:sp>
      <p:sp>
        <p:nvSpPr>
          <p:cNvPr name="TextBox 4" id="4"/>
          <p:cNvSpPr txBox="true"/>
          <p:nvPr/>
        </p:nvSpPr>
        <p:spPr>
          <a:xfrm rot="0">
            <a:off x="484442" y="9351273"/>
            <a:ext cx="3854940" cy="560463"/>
          </a:xfrm>
          <a:prstGeom prst="rect">
            <a:avLst/>
          </a:prstGeom>
        </p:spPr>
        <p:txBody>
          <a:bodyPr anchor="t" rtlCol="false" tIns="0" lIns="0" bIns="0" rIns="0">
            <a:spAutoFit/>
          </a:bodyPr>
          <a:lstStyle/>
          <a:p>
            <a:pPr algn="l">
              <a:lnSpc>
                <a:spcPts val="3552"/>
              </a:lnSpc>
            </a:pPr>
            <a:r>
              <a:rPr lang="en-US" sz="3383">
                <a:solidFill>
                  <a:srgbClr val="2145B2"/>
                </a:solidFill>
                <a:latin typeface="Agrandir Wide"/>
                <a:ea typeface="Agrandir Wide"/>
                <a:cs typeface="Agrandir Wide"/>
                <a:sym typeface="Agrandir Wide"/>
              </a:rPr>
              <a:t>Mukesh Dey</a:t>
            </a:r>
          </a:p>
        </p:txBody>
      </p:sp>
      <p:sp>
        <p:nvSpPr>
          <p:cNvPr name="TextBox 5" id="5"/>
          <p:cNvSpPr txBox="true"/>
          <p:nvPr/>
        </p:nvSpPr>
        <p:spPr>
          <a:xfrm rot="0">
            <a:off x="484442" y="5620638"/>
            <a:ext cx="8659558" cy="2056393"/>
          </a:xfrm>
          <a:prstGeom prst="rect">
            <a:avLst/>
          </a:prstGeom>
        </p:spPr>
        <p:txBody>
          <a:bodyPr anchor="t" rtlCol="false" tIns="0" lIns="0" bIns="0" rIns="0">
            <a:spAutoFit/>
          </a:bodyPr>
          <a:lstStyle/>
          <a:p>
            <a:pPr algn="l">
              <a:lnSpc>
                <a:spcPts val="7337"/>
              </a:lnSpc>
            </a:pPr>
            <a:r>
              <a:rPr lang="en-US" sz="6670">
                <a:solidFill>
                  <a:srgbClr val="E0CA27"/>
                </a:solidFill>
                <a:latin typeface="Agrandir Wide"/>
                <a:ea typeface="Agrandir Wide"/>
                <a:cs typeface="Agrandir Wide"/>
                <a:sym typeface="Agrandir Wide"/>
              </a:rPr>
              <a:t>Instagram Data Analytics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4F0E9"/>
        </a:solidFill>
      </p:bgPr>
    </p:bg>
    <p:spTree>
      <p:nvGrpSpPr>
        <p:cNvPr id="1" name=""/>
        <p:cNvGrpSpPr/>
        <p:nvPr/>
      </p:nvGrpSpPr>
      <p:grpSpPr>
        <a:xfrm>
          <a:off x="0" y="0"/>
          <a:ext cx="0" cy="0"/>
          <a:chOff x="0" y="0"/>
          <a:chExt cx="0" cy="0"/>
        </a:xfrm>
      </p:grpSpPr>
      <p:sp>
        <p:nvSpPr>
          <p:cNvPr name="Freeform 2" id="2"/>
          <p:cNvSpPr/>
          <p:nvPr/>
        </p:nvSpPr>
        <p:spPr>
          <a:xfrm flipH="false" flipV="false" rot="0">
            <a:off x="12924296" y="572231"/>
            <a:ext cx="4822689" cy="9142538"/>
          </a:xfrm>
          <a:custGeom>
            <a:avLst/>
            <a:gdLst/>
            <a:ahLst/>
            <a:cxnLst/>
            <a:rect r="r" b="b" t="t" l="l"/>
            <a:pathLst>
              <a:path h="9142538" w="4822689">
                <a:moveTo>
                  <a:pt x="0" y="0"/>
                </a:moveTo>
                <a:lnTo>
                  <a:pt x="4822689" y="0"/>
                </a:lnTo>
                <a:lnTo>
                  <a:pt x="4822689" y="9142538"/>
                </a:lnTo>
                <a:lnTo>
                  <a:pt x="0" y="91425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65496" y="8734586"/>
            <a:ext cx="3086100" cy="1047428"/>
            <a:chOff x="0" y="0"/>
            <a:chExt cx="812800" cy="275866"/>
          </a:xfrm>
        </p:grpSpPr>
        <p:sp>
          <p:nvSpPr>
            <p:cNvPr name="Freeform 4" id="4"/>
            <p:cNvSpPr/>
            <p:nvPr/>
          </p:nvSpPr>
          <p:spPr>
            <a:xfrm flipH="false" flipV="false" rot="0">
              <a:off x="0" y="0"/>
              <a:ext cx="812800" cy="275866"/>
            </a:xfrm>
            <a:custGeom>
              <a:avLst/>
              <a:gdLst/>
              <a:ahLst/>
              <a:cxnLst/>
              <a:rect r="r" b="b" t="t" l="l"/>
              <a:pathLst>
                <a:path h="275866" w="812800">
                  <a:moveTo>
                    <a:pt x="127941" y="0"/>
                  </a:moveTo>
                  <a:lnTo>
                    <a:pt x="684859" y="0"/>
                  </a:lnTo>
                  <a:cubicBezTo>
                    <a:pt x="718791" y="0"/>
                    <a:pt x="751333" y="13479"/>
                    <a:pt x="775327" y="37473"/>
                  </a:cubicBezTo>
                  <a:cubicBezTo>
                    <a:pt x="799321" y="61467"/>
                    <a:pt x="812800" y="94009"/>
                    <a:pt x="812800" y="127941"/>
                  </a:cubicBezTo>
                  <a:lnTo>
                    <a:pt x="812800" y="147925"/>
                  </a:lnTo>
                  <a:cubicBezTo>
                    <a:pt x="812800" y="181857"/>
                    <a:pt x="799321" y="214399"/>
                    <a:pt x="775327" y="238393"/>
                  </a:cubicBezTo>
                  <a:cubicBezTo>
                    <a:pt x="751333" y="262386"/>
                    <a:pt x="718791" y="275866"/>
                    <a:pt x="684859" y="275866"/>
                  </a:cubicBezTo>
                  <a:lnTo>
                    <a:pt x="127941" y="275866"/>
                  </a:lnTo>
                  <a:cubicBezTo>
                    <a:pt x="94009" y="275866"/>
                    <a:pt x="61467" y="262386"/>
                    <a:pt x="37473" y="238393"/>
                  </a:cubicBezTo>
                  <a:cubicBezTo>
                    <a:pt x="13479" y="214399"/>
                    <a:pt x="0" y="181857"/>
                    <a:pt x="0" y="147925"/>
                  </a:cubicBezTo>
                  <a:lnTo>
                    <a:pt x="0" y="127941"/>
                  </a:lnTo>
                  <a:cubicBezTo>
                    <a:pt x="0" y="94009"/>
                    <a:pt x="13479" y="61467"/>
                    <a:pt x="37473" y="37473"/>
                  </a:cubicBezTo>
                  <a:cubicBezTo>
                    <a:pt x="61467" y="13479"/>
                    <a:pt x="94009" y="0"/>
                    <a:pt x="127941" y="0"/>
                  </a:cubicBezTo>
                  <a:close/>
                </a:path>
              </a:pathLst>
            </a:custGeom>
            <a:solidFill>
              <a:srgbClr val="000000">
                <a:alpha val="0"/>
              </a:srgbClr>
            </a:solidFill>
            <a:ln w="38100" cap="rnd">
              <a:solidFill>
                <a:srgbClr val="2145B2"/>
              </a:solidFill>
              <a:prstDash val="solid"/>
              <a:round/>
            </a:ln>
          </p:spPr>
        </p:sp>
        <p:sp>
          <p:nvSpPr>
            <p:cNvPr name="TextBox 5" id="5"/>
            <p:cNvSpPr txBox="true"/>
            <p:nvPr/>
          </p:nvSpPr>
          <p:spPr>
            <a:xfrm>
              <a:off x="0" y="-180975"/>
              <a:ext cx="812800" cy="456841"/>
            </a:xfrm>
            <a:prstGeom prst="rect">
              <a:avLst/>
            </a:prstGeom>
          </p:spPr>
          <p:txBody>
            <a:bodyPr anchor="ctr" rtlCol="false" tIns="50800" lIns="50800" bIns="50800" rIns="50800"/>
            <a:lstStyle/>
            <a:p>
              <a:pPr algn="ctr">
                <a:lnSpc>
                  <a:spcPts val="5319"/>
                </a:lnSpc>
              </a:pPr>
              <a:r>
                <a:rPr lang="en-US" sz="3799">
                  <a:solidFill>
                    <a:srgbClr val="2145B2"/>
                  </a:solidFill>
                  <a:latin typeface="Agrandir Wide"/>
                  <a:ea typeface="Agrandir Wide"/>
                  <a:cs typeface="Agrandir Wide"/>
                  <a:sym typeface="Agrandir Wide"/>
                </a:rPr>
                <a:t>Data</a:t>
              </a:r>
            </a:p>
          </p:txBody>
        </p:sp>
      </p:grpSp>
      <p:grpSp>
        <p:nvGrpSpPr>
          <p:cNvPr name="Group 6" id="6"/>
          <p:cNvGrpSpPr/>
          <p:nvPr/>
        </p:nvGrpSpPr>
        <p:grpSpPr>
          <a:xfrm rot="0">
            <a:off x="3792983" y="8734586"/>
            <a:ext cx="4374916" cy="1047428"/>
            <a:chOff x="0" y="0"/>
            <a:chExt cx="1152241" cy="275866"/>
          </a:xfrm>
        </p:grpSpPr>
        <p:sp>
          <p:nvSpPr>
            <p:cNvPr name="Freeform 7" id="7"/>
            <p:cNvSpPr/>
            <p:nvPr/>
          </p:nvSpPr>
          <p:spPr>
            <a:xfrm flipH="false" flipV="false" rot="0">
              <a:off x="0" y="0"/>
              <a:ext cx="1152241" cy="275866"/>
            </a:xfrm>
            <a:custGeom>
              <a:avLst/>
              <a:gdLst/>
              <a:ahLst/>
              <a:cxnLst/>
              <a:rect r="r" b="b" t="t" l="l"/>
              <a:pathLst>
                <a:path h="275866" w="1152241">
                  <a:moveTo>
                    <a:pt x="90250" y="0"/>
                  </a:moveTo>
                  <a:lnTo>
                    <a:pt x="1061991" y="0"/>
                  </a:lnTo>
                  <a:cubicBezTo>
                    <a:pt x="1111835" y="0"/>
                    <a:pt x="1152241" y="40406"/>
                    <a:pt x="1152241" y="90250"/>
                  </a:cubicBezTo>
                  <a:lnTo>
                    <a:pt x="1152241" y="185615"/>
                  </a:lnTo>
                  <a:cubicBezTo>
                    <a:pt x="1152241" y="235459"/>
                    <a:pt x="1111835" y="275866"/>
                    <a:pt x="1061991" y="275866"/>
                  </a:cubicBezTo>
                  <a:lnTo>
                    <a:pt x="90250" y="275866"/>
                  </a:lnTo>
                  <a:cubicBezTo>
                    <a:pt x="66315" y="275866"/>
                    <a:pt x="43359" y="266357"/>
                    <a:pt x="26434" y="249432"/>
                  </a:cubicBezTo>
                  <a:cubicBezTo>
                    <a:pt x="9508" y="232507"/>
                    <a:pt x="0" y="209551"/>
                    <a:pt x="0" y="185615"/>
                  </a:cubicBezTo>
                  <a:lnTo>
                    <a:pt x="0" y="90250"/>
                  </a:lnTo>
                  <a:cubicBezTo>
                    <a:pt x="0" y="40406"/>
                    <a:pt x="40406" y="0"/>
                    <a:pt x="90250" y="0"/>
                  </a:cubicBezTo>
                  <a:close/>
                </a:path>
              </a:pathLst>
            </a:custGeom>
            <a:solidFill>
              <a:srgbClr val="000000">
                <a:alpha val="0"/>
              </a:srgbClr>
            </a:solidFill>
            <a:ln w="38100" cap="rnd">
              <a:solidFill>
                <a:srgbClr val="E0CA27"/>
              </a:solidFill>
              <a:prstDash val="solid"/>
              <a:round/>
            </a:ln>
          </p:spPr>
        </p:sp>
        <p:sp>
          <p:nvSpPr>
            <p:cNvPr name="TextBox 8" id="8"/>
            <p:cNvSpPr txBox="true"/>
            <p:nvPr/>
          </p:nvSpPr>
          <p:spPr>
            <a:xfrm>
              <a:off x="0" y="-180975"/>
              <a:ext cx="1152241" cy="456841"/>
            </a:xfrm>
            <a:prstGeom prst="rect">
              <a:avLst/>
            </a:prstGeom>
          </p:spPr>
          <p:txBody>
            <a:bodyPr anchor="ctr" rtlCol="false" tIns="50800" lIns="50800" bIns="50800" rIns="50800"/>
            <a:lstStyle/>
            <a:p>
              <a:pPr algn="ctr">
                <a:lnSpc>
                  <a:spcPts val="5319"/>
                </a:lnSpc>
              </a:pPr>
              <a:r>
                <a:rPr lang="en-US" sz="3799">
                  <a:solidFill>
                    <a:srgbClr val="E0CA27"/>
                  </a:solidFill>
                  <a:latin typeface="Agrandir Wide"/>
                  <a:ea typeface="Agrandir Wide"/>
                  <a:cs typeface="Agrandir Wide"/>
                  <a:sym typeface="Agrandir Wide"/>
                </a:rPr>
                <a:t>Analytics</a:t>
              </a:r>
            </a:p>
          </p:txBody>
        </p:sp>
      </p:grpSp>
      <p:sp>
        <p:nvSpPr>
          <p:cNvPr name="TextBox 9" id="9"/>
          <p:cNvSpPr txBox="true"/>
          <p:nvPr/>
        </p:nvSpPr>
        <p:spPr>
          <a:xfrm rot="0">
            <a:off x="465496" y="251773"/>
            <a:ext cx="10131485" cy="1304912"/>
          </a:xfrm>
          <a:prstGeom prst="rect">
            <a:avLst/>
          </a:prstGeom>
        </p:spPr>
        <p:txBody>
          <a:bodyPr anchor="t" rtlCol="false" tIns="0" lIns="0" bIns="0" rIns="0">
            <a:spAutoFit/>
          </a:bodyPr>
          <a:lstStyle/>
          <a:p>
            <a:pPr algn="l">
              <a:lnSpc>
                <a:spcPts val="8548"/>
              </a:lnSpc>
            </a:pPr>
            <a:r>
              <a:rPr lang="en-US" sz="7498">
                <a:solidFill>
                  <a:srgbClr val="000000"/>
                </a:solidFill>
                <a:latin typeface="Agrandir Wide"/>
                <a:ea typeface="Agrandir Wide"/>
                <a:cs typeface="Agrandir Wide"/>
                <a:sym typeface="Agrandir Wide"/>
              </a:rPr>
              <a:t>01 - Introduction</a:t>
            </a:r>
          </a:p>
        </p:txBody>
      </p:sp>
      <p:sp>
        <p:nvSpPr>
          <p:cNvPr name="TextBox 10" id="10"/>
          <p:cNvSpPr txBox="true"/>
          <p:nvPr/>
        </p:nvSpPr>
        <p:spPr>
          <a:xfrm rot="0">
            <a:off x="465496" y="2169778"/>
            <a:ext cx="11715350" cy="2381237"/>
          </a:xfrm>
          <a:prstGeom prst="rect">
            <a:avLst/>
          </a:prstGeom>
        </p:spPr>
        <p:txBody>
          <a:bodyPr anchor="t" rtlCol="false" tIns="0" lIns="0" bIns="0" rIns="0">
            <a:spAutoFit/>
          </a:bodyPr>
          <a:lstStyle/>
          <a:p>
            <a:pPr algn="l">
              <a:lnSpc>
                <a:spcPts val="8548"/>
              </a:lnSpc>
            </a:pPr>
            <a:r>
              <a:rPr lang="en-US" sz="7498">
                <a:solidFill>
                  <a:srgbClr val="000000"/>
                </a:solidFill>
                <a:latin typeface="Agrandir Wide"/>
                <a:ea typeface="Agrandir Wide"/>
                <a:cs typeface="Agrandir Wide"/>
                <a:sym typeface="Agrandir Wide"/>
              </a:rPr>
              <a:t>02 - Marketing Analytics</a:t>
            </a:r>
          </a:p>
        </p:txBody>
      </p:sp>
      <p:sp>
        <p:nvSpPr>
          <p:cNvPr name="TextBox 11" id="11"/>
          <p:cNvSpPr txBox="true"/>
          <p:nvPr/>
        </p:nvSpPr>
        <p:spPr>
          <a:xfrm rot="0">
            <a:off x="465496" y="5164108"/>
            <a:ext cx="12090278" cy="1304912"/>
          </a:xfrm>
          <a:prstGeom prst="rect">
            <a:avLst/>
          </a:prstGeom>
        </p:spPr>
        <p:txBody>
          <a:bodyPr anchor="t" rtlCol="false" tIns="0" lIns="0" bIns="0" rIns="0">
            <a:spAutoFit/>
          </a:bodyPr>
          <a:lstStyle/>
          <a:p>
            <a:pPr algn="l">
              <a:lnSpc>
                <a:spcPts val="8548"/>
              </a:lnSpc>
            </a:pPr>
            <a:r>
              <a:rPr lang="en-US" sz="7498">
                <a:solidFill>
                  <a:srgbClr val="000000"/>
                </a:solidFill>
                <a:latin typeface="Agrandir Wide"/>
                <a:ea typeface="Agrandir Wide"/>
                <a:cs typeface="Agrandir Wide"/>
                <a:sym typeface="Agrandir Wide"/>
              </a:rPr>
              <a:t>03 - Investors Metrics</a:t>
            </a:r>
          </a:p>
        </p:txBody>
      </p:sp>
    </p:spTree>
  </p:cSld>
  <p:clrMapOvr>
    <a:masterClrMapping/>
  </p:clrMapOvr>
  <p:transition spd="slow">
    <p:push dir="l"/>
  </p:transition>
</p:sld>
</file>

<file path=ppt/slides/slide3.xml><?xml version="1.0" encoding="utf-8"?>
<p:sld xmlns:p="http://schemas.openxmlformats.org/presentationml/2006/main" xmlns:a="http://schemas.openxmlformats.org/drawingml/2006/main">
  <p:cSld>
    <p:bg>
      <p:bgPr>
        <a:solidFill>
          <a:srgbClr val="F4F0E9"/>
        </a:solidFill>
      </p:bgPr>
    </p:bg>
    <p:spTree>
      <p:nvGrpSpPr>
        <p:cNvPr id="1" name=""/>
        <p:cNvGrpSpPr/>
        <p:nvPr/>
      </p:nvGrpSpPr>
      <p:grpSpPr>
        <a:xfrm>
          <a:off x="0" y="0"/>
          <a:ext cx="0" cy="0"/>
          <a:chOff x="0" y="0"/>
          <a:chExt cx="0" cy="0"/>
        </a:xfrm>
      </p:grpSpPr>
      <p:grpSp>
        <p:nvGrpSpPr>
          <p:cNvPr name="Group 2" id="2"/>
          <p:cNvGrpSpPr/>
          <p:nvPr/>
        </p:nvGrpSpPr>
        <p:grpSpPr>
          <a:xfrm rot="0">
            <a:off x="512362" y="6967252"/>
            <a:ext cx="9749675" cy="2822289"/>
            <a:chOff x="0" y="0"/>
            <a:chExt cx="2567816" cy="743319"/>
          </a:xfrm>
        </p:grpSpPr>
        <p:sp>
          <p:nvSpPr>
            <p:cNvPr name="Freeform 3" id="3"/>
            <p:cNvSpPr/>
            <p:nvPr/>
          </p:nvSpPr>
          <p:spPr>
            <a:xfrm flipH="false" flipV="false" rot="0">
              <a:off x="0" y="0"/>
              <a:ext cx="2567816" cy="743319"/>
            </a:xfrm>
            <a:custGeom>
              <a:avLst/>
              <a:gdLst/>
              <a:ahLst/>
              <a:cxnLst/>
              <a:rect r="r" b="b" t="t" l="l"/>
              <a:pathLst>
                <a:path h="743319" w="2567816">
                  <a:moveTo>
                    <a:pt x="40498" y="0"/>
                  </a:moveTo>
                  <a:lnTo>
                    <a:pt x="2527318" y="0"/>
                  </a:lnTo>
                  <a:cubicBezTo>
                    <a:pt x="2549684" y="0"/>
                    <a:pt x="2567816" y="18131"/>
                    <a:pt x="2567816" y="40498"/>
                  </a:cubicBezTo>
                  <a:lnTo>
                    <a:pt x="2567816" y="702821"/>
                  </a:lnTo>
                  <a:cubicBezTo>
                    <a:pt x="2567816" y="713562"/>
                    <a:pt x="2563549" y="723863"/>
                    <a:pt x="2555954" y="731457"/>
                  </a:cubicBezTo>
                  <a:cubicBezTo>
                    <a:pt x="2548360" y="739052"/>
                    <a:pt x="2538059" y="743319"/>
                    <a:pt x="2527318" y="743319"/>
                  </a:cubicBezTo>
                  <a:lnTo>
                    <a:pt x="40498" y="743319"/>
                  </a:lnTo>
                  <a:cubicBezTo>
                    <a:pt x="29757" y="743319"/>
                    <a:pt x="19456" y="739052"/>
                    <a:pt x="11861" y="731457"/>
                  </a:cubicBezTo>
                  <a:cubicBezTo>
                    <a:pt x="4267" y="723863"/>
                    <a:pt x="0" y="713562"/>
                    <a:pt x="0" y="702821"/>
                  </a:cubicBezTo>
                  <a:lnTo>
                    <a:pt x="0" y="40498"/>
                  </a:lnTo>
                  <a:cubicBezTo>
                    <a:pt x="0" y="29757"/>
                    <a:pt x="4267" y="19456"/>
                    <a:pt x="11861" y="11861"/>
                  </a:cubicBezTo>
                  <a:cubicBezTo>
                    <a:pt x="19456" y="4267"/>
                    <a:pt x="29757" y="0"/>
                    <a:pt x="40498" y="0"/>
                  </a:cubicBezTo>
                  <a:close/>
                </a:path>
              </a:pathLst>
            </a:custGeom>
            <a:solidFill>
              <a:srgbClr val="000000">
                <a:alpha val="0"/>
              </a:srgbClr>
            </a:solidFill>
            <a:ln w="38100" cap="rnd">
              <a:solidFill>
                <a:srgbClr val="2145B2"/>
              </a:solidFill>
              <a:prstDash val="solid"/>
              <a:round/>
            </a:ln>
          </p:spPr>
        </p:sp>
        <p:sp>
          <p:nvSpPr>
            <p:cNvPr name="TextBox 4" id="4"/>
            <p:cNvSpPr txBox="true"/>
            <p:nvPr/>
          </p:nvSpPr>
          <p:spPr>
            <a:xfrm>
              <a:off x="0" y="-38100"/>
              <a:ext cx="2567816" cy="781419"/>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512362" y="1820750"/>
            <a:ext cx="10412070" cy="4876843"/>
          </a:xfrm>
          <a:prstGeom prst="rect">
            <a:avLst/>
          </a:prstGeom>
        </p:spPr>
        <p:txBody>
          <a:bodyPr anchor="t" rtlCol="false" tIns="0" lIns="0" bIns="0" rIns="0">
            <a:spAutoFit/>
          </a:bodyPr>
          <a:lstStyle/>
          <a:p>
            <a:pPr algn="l">
              <a:lnSpc>
                <a:spcPts val="4760"/>
              </a:lnSpc>
            </a:pPr>
            <a:r>
              <a:rPr lang="en-US" sz="3400">
                <a:solidFill>
                  <a:srgbClr val="000000"/>
                </a:solidFill>
                <a:latin typeface="Agrandir Wide"/>
                <a:ea typeface="Agrandir Wide"/>
                <a:cs typeface="Agrandir Wide"/>
                <a:sym typeface="Agrandir Wide"/>
              </a:rPr>
              <a:t>In this project, I'll be using SQL and MySQL Workbench as my tools to analyze Instagram user data and answer questions posted by the management team. My insights will help the product manager and the rest of the team make informed decisions about the future direction of the Instagram app. </a:t>
            </a:r>
          </a:p>
        </p:txBody>
      </p:sp>
      <p:sp>
        <p:nvSpPr>
          <p:cNvPr name="TextBox 6" id="6"/>
          <p:cNvSpPr txBox="true"/>
          <p:nvPr/>
        </p:nvSpPr>
        <p:spPr>
          <a:xfrm rot="0">
            <a:off x="512362" y="243399"/>
            <a:ext cx="11279007" cy="1304912"/>
          </a:xfrm>
          <a:prstGeom prst="rect">
            <a:avLst/>
          </a:prstGeom>
        </p:spPr>
        <p:txBody>
          <a:bodyPr anchor="t" rtlCol="false" tIns="0" lIns="0" bIns="0" rIns="0">
            <a:spAutoFit/>
          </a:bodyPr>
          <a:lstStyle/>
          <a:p>
            <a:pPr algn="l">
              <a:lnSpc>
                <a:spcPts val="8548"/>
              </a:lnSpc>
            </a:pPr>
            <a:r>
              <a:rPr lang="en-US" sz="7498">
                <a:solidFill>
                  <a:srgbClr val="000000"/>
                </a:solidFill>
                <a:latin typeface="Agrandir Wide"/>
                <a:ea typeface="Agrandir Wide"/>
                <a:cs typeface="Agrandir Wide"/>
                <a:sym typeface="Agrandir Wide"/>
              </a:rPr>
              <a:t>01 - Introduction</a:t>
            </a:r>
          </a:p>
        </p:txBody>
      </p:sp>
      <p:sp>
        <p:nvSpPr>
          <p:cNvPr name="TextBox 7" id="7"/>
          <p:cNvSpPr txBox="true"/>
          <p:nvPr/>
        </p:nvSpPr>
        <p:spPr>
          <a:xfrm rot="0">
            <a:off x="997081" y="7254031"/>
            <a:ext cx="8682518" cy="2370463"/>
          </a:xfrm>
          <a:prstGeom prst="rect">
            <a:avLst/>
          </a:prstGeom>
        </p:spPr>
        <p:txBody>
          <a:bodyPr anchor="t" rtlCol="false" tIns="0" lIns="0" bIns="0" rIns="0">
            <a:spAutoFit/>
          </a:bodyPr>
          <a:lstStyle/>
          <a:p>
            <a:pPr algn="l">
              <a:lnSpc>
                <a:spcPts val="4562"/>
              </a:lnSpc>
            </a:pPr>
            <a:r>
              <a:rPr lang="en-US" sz="3259">
                <a:solidFill>
                  <a:srgbClr val="2145B2"/>
                </a:solidFill>
                <a:latin typeface="Agrandir Wide"/>
                <a:ea typeface="Agrandir Wide"/>
                <a:cs typeface="Agrandir Wide"/>
                <a:sym typeface="Agrandir Wide"/>
              </a:rPr>
              <a:t>My findings could potentially influence the future development of one of the world's most popular social media platforms.</a:t>
            </a:r>
          </a:p>
        </p:txBody>
      </p:sp>
      <p:sp>
        <p:nvSpPr>
          <p:cNvPr name="TextBox 8" id="8"/>
          <p:cNvSpPr txBox="true"/>
          <p:nvPr/>
        </p:nvSpPr>
        <p:spPr>
          <a:xfrm rot="0">
            <a:off x="10924431" y="291024"/>
            <a:ext cx="6925874" cy="2398409"/>
          </a:xfrm>
          <a:prstGeom prst="rect">
            <a:avLst/>
          </a:prstGeom>
        </p:spPr>
        <p:txBody>
          <a:bodyPr anchor="t" rtlCol="false" tIns="0" lIns="0" bIns="0" rIns="0">
            <a:spAutoFit/>
          </a:bodyPr>
          <a:lstStyle/>
          <a:p>
            <a:pPr algn="r">
              <a:lnSpc>
                <a:spcPts val="5851"/>
              </a:lnSpc>
            </a:pPr>
            <a:r>
              <a:rPr lang="en-US" sz="5178" i="true">
                <a:solidFill>
                  <a:srgbClr val="E0CA27"/>
                </a:solidFill>
                <a:latin typeface="Agrandir Wide Italics"/>
                <a:ea typeface="Agrandir Wide Italics"/>
                <a:cs typeface="Agrandir Wide Italics"/>
                <a:sym typeface="Agrandir Wide Italics"/>
              </a:rPr>
              <a:t>Analyzing data enables informed decision-making</a:t>
            </a:r>
          </a:p>
        </p:txBody>
      </p:sp>
      <p:grpSp>
        <p:nvGrpSpPr>
          <p:cNvPr name="Group 9" id="9"/>
          <p:cNvGrpSpPr/>
          <p:nvPr/>
        </p:nvGrpSpPr>
        <p:grpSpPr>
          <a:xfrm rot="0">
            <a:off x="14673138" y="7406431"/>
            <a:ext cx="3086100" cy="1047428"/>
            <a:chOff x="0" y="0"/>
            <a:chExt cx="812800" cy="275866"/>
          </a:xfrm>
        </p:grpSpPr>
        <p:sp>
          <p:nvSpPr>
            <p:cNvPr name="Freeform 10" id="10"/>
            <p:cNvSpPr/>
            <p:nvPr/>
          </p:nvSpPr>
          <p:spPr>
            <a:xfrm flipH="false" flipV="false" rot="0">
              <a:off x="0" y="0"/>
              <a:ext cx="812800" cy="275866"/>
            </a:xfrm>
            <a:custGeom>
              <a:avLst/>
              <a:gdLst/>
              <a:ahLst/>
              <a:cxnLst/>
              <a:rect r="r" b="b" t="t" l="l"/>
              <a:pathLst>
                <a:path h="275866" w="812800">
                  <a:moveTo>
                    <a:pt x="127941" y="0"/>
                  </a:moveTo>
                  <a:lnTo>
                    <a:pt x="684859" y="0"/>
                  </a:lnTo>
                  <a:cubicBezTo>
                    <a:pt x="718791" y="0"/>
                    <a:pt x="751333" y="13479"/>
                    <a:pt x="775327" y="37473"/>
                  </a:cubicBezTo>
                  <a:cubicBezTo>
                    <a:pt x="799321" y="61467"/>
                    <a:pt x="812800" y="94009"/>
                    <a:pt x="812800" y="127941"/>
                  </a:cubicBezTo>
                  <a:lnTo>
                    <a:pt x="812800" y="147925"/>
                  </a:lnTo>
                  <a:cubicBezTo>
                    <a:pt x="812800" y="181857"/>
                    <a:pt x="799321" y="214399"/>
                    <a:pt x="775327" y="238393"/>
                  </a:cubicBezTo>
                  <a:cubicBezTo>
                    <a:pt x="751333" y="262386"/>
                    <a:pt x="718791" y="275866"/>
                    <a:pt x="684859" y="275866"/>
                  </a:cubicBezTo>
                  <a:lnTo>
                    <a:pt x="127941" y="275866"/>
                  </a:lnTo>
                  <a:cubicBezTo>
                    <a:pt x="94009" y="275866"/>
                    <a:pt x="61467" y="262386"/>
                    <a:pt x="37473" y="238393"/>
                  </a:cubicBezTo>
                  <a:cubicBezTo>
                    <a:pt x="13479" y="214399"/>
                    <a:pt x="0" y="181857"/>
                    <a:pt x="0" y="147925"/>
                  </a:cubicBezTo>
                  <a:lnTo>
                    <a:pt x="0" y="127941"/>
                  </a:lnTo>
                  <a:cubicBezTo>
                    <a:pt x="0" y="94009"/>
                    <a:pt x="13479" y="61467"/>
                    <a:pt x="37473" y="37473"/>
                  </a:cubicBezTo>
                  <a:cubicBezTo>
                    <a:pt x="61467" y="13479"/>
                    <a:pt x="94009" y="0"/>
                    <a:pt x="127941" y="0"/>
                  </a:cubicBezTo>
                  <a:close/>
                </a:path>
              </a:pathLst>
            </a:custGeom>
            <a:solidFill>
              <a:srgbClr val="000000">
                <a:alpha val="0"/>
              </a:srgbClr>
            </a:solidFill>
            <a:ln w="38100" cap="rnd">
              <a:solidFill>
                <a:srgbClr val="2145B2"/>
              </a:solidFill>
              <a:prstDash val="solid"/>
              <a:round/>
            </a:ln>
          </p:spPr>
        </p:sp>
        <p:sp>
          <p:nvSpPr>
            <p:cNvPr name="TextBox 11" id="11"/>
            <p:cNvSpPr txBox="true"/>
            <p:nvPr/>
          </p:nvSpPr>
          <p:spPr>
            <a:xfrm>
              <a:off x="0" y="-180975"/>
              <a:ext cx="812800" cy="456841"/>
            </a:xfrm>
            <a:prstGeom prst="rect">
              <a:avLst/>
            </a:prstGeom>
          </p:spPr>
          <p:txBody>
            <a:bodyPr anchor="ctr" rtlCol="false" tIns="50800" lIns="50800" bIns="50800" rIns="50800"/>
            <a:lstStyle/>
            <a:p>
              <a:pPr algn="ctr">
                <a:lnSpc>
                  <a:spcPts val="5319"/>
                </a:lnSpc>
              </a:pPr>
              <a:r>
                <a:rPr lang="en-US" sz="3799">
                  <a:solidFill>
                    <a:srgbClr val="2145B2"/>
                  </a:solidFill>
                  <a:latin typeface="Agrandir Wide"/>
                  <a:ea typeface="Agrandir Wide"/>
                  <a:cs typeface="Agrandir Wide"/>
                  <a:sym typeface="Agrandir Wide"/>
                </a:rPr>
                <a:t>Data</a:t>
              </a:r>
            </a:p>
          </p:txBody>
        </p:sp>
      </p:grpSp>
      <p:grpSp>
        <p:nvGrpSpPr>
          <p:cNvPr name="Group 12" id="12"/>
          <p:cNvGrpSpPr/>
          <p:nvPr/>
        </p:nvGrpSpPr>
        <p:grpSpPr>
          <a:xfrm rot="0">
            <a:off x="13475390" y="8742112"/>
            <a:ext cx="4374916" cy="1047428"/>
            <a:chOff x="0" y="0"/>
            <a:chExt cx="1152241" cy="275866"/>
          </a:xfrm>
        </p:grpSpPr>
        <p:sp>
          <p:nvSpPr>
            <p:cNvPr name="Freeform 13" id="13"/>
            <p:cNvSpPr/>
            <p:nvPr/>
          </p:nvSpPr>
          <p:spPr>
            <a:xfrm flipH="false" flipV="false" rot="0">
              <a:off x="0" y="0"/>
              <a:ext cx="1152241" cy="275866"/>
            </a:xfrm>
            <a:custGeom>
              <a:avLst/>
              <a:gdLst/>
              <a:ahLst/>
              <a:cxnLst/>
              <a:rect r="r" b="b" t="t" l="l"/>
              <a:pathLst>
                <a:path h="275866" w="1152241">
                  <a:moveTo>
                    <a:pt x="90250" y="0"/>
                  </a:moveTo>
                  <a:lnTo>
                    <a:pt x="1061991" y="0"/>
                  </a:lnTo>
                  <a:cubicBezTo>
                    <a:pt x="1111835" y="0"/>
                    <a:pt x="1152241" y="40406"/>
                    <a:pt x="1152241" y="90250"/>
                  </a:cubicBezTo>
                  <a:lnTo>
                    <a:pt x="1152241" y="185615"/>
                  </a:lnTo>
                  <a:cubicBezTo>
                    <a:pt x="1152241" y="235459"/>
                    <a:pt x="1111835" y="275866"/>
                    <a:pt x="1061991" y="275866"/>
                  </a:cubicBezTo>
                  <a:lnTo>
                    <a:pt x="90250" y="275866"/>
                  </a:lnTo>
                  <a:cubicBezTo>
                    <a:pt x="66315" y="275866"/>
                    <a:pt x="43359" y="266357"/>
                    <a:pt x="26434" y="249432"/>
                  </a:cubicBezTo>
                  <a:cubicBezTo>
                    <a:pt x="9508" y="232507"/>
                    <a:pt x="0" y="209551"/>
                    <a:pt x="0" y="185615"/>
                  </a:cubicBezTo>
                  <a:lnTo>
                    <a:pt x="0" y="90250"/>
                  </a:lnTo>
                  <a:cubicBezTo>
                    <a:pt x="0" y="40406"/>
                    <a:pt x="40406" y="0"/>
                    <a:pt x="90250" y="0"/>
                  </a:cubicBezTo>
                  <a:close/>
                </a:path>
              </a:pathLst>
            </a:custGeom>
            <a:solidFill>
              <a:srgbClr val="000000">
                <a:alpha val="0"/>
              </a:srgbClr>
            </a:solidFill>
            <a:ln w="38100" cap="rnd">
              <a:solidFill>
                <a:srgbClr val="E0CA27"/>
              </a:solidFill>
              <a:prstDash val="solid"/>
              <a:round/>
            </a:ln>
          </p:spPr>
        </p:sp>
        <p:sp>
          <p:nvSpPr>
            <p:cNvPr name="TextBox 14" id="14"/>
            <p:cNvSpPr txBox="true"/>
            <p:nvPr/>
          </p:nvSpPr>
          <p:spPr>
            <a:xfrm>
              <a:off x="0" y="-180975"/>
              <a:ext cx="1152241" cy="456841"/>
            </a:xfrm>
            <a:prstGeom prst="rect">
              <a:avLst/>
            </a:prstGeom>
          </p:spPr>
          <p:txBody>
            <a:bodyPr anchor="ctr" rtlCol="false" tIns="50800" lIns="50800" bIns="50800" rIns="50800"/>
            <a:lstStyle/>
            <a:p>
              <a:pPr algn="ctr">
                <a:lnSpc>
                  <a:spcPts val="5319"/>
                </a:lnSpc>
              </a:pPr>
              <a:r>
                <a:rPr lang="en-US" sz="3799">
                  <a:solidFill>
                    <a:srgbClr val="E0CA27"/>
                  </a:solidFill>
                  <a:latin typeface="Agrandir Wide"/>
                  <a:ea typeface="Agrandir Wide"/>
                  <a:cs typeface="Agrandir Wide"/>
                  <a:sym typeface="Agrandir Wide"/>
                </a:rPr>
                <a:t>Analytics</a:t>
              </a:r>
            </a:p>
          </p:txBody>
        </p:sp>
      </p:grpSp>
    </p:spTree>
  </p:cSld>
  <p:clrMapOvr>
    <a:masterClrMapping/>
  </p:clrMapOvr>
  <p:transition spd="slow">
    <p:push dir="l"/>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4F0E9"/>
        </a:solidFill>
      </p:bgPr>
    </p:bg>
    <p:spTree>
      <p:nvGrpSpPr>
        <p:cNvPr id="1" name=""/>
        <p:cNvGrpSpPr/>
        <p:nvPr/>
      </p:nvGrpSpPr>
      <p:grpSpPr>
        <a:xfrm>
          <a:off x="0" y="0"/>
          <a:ext cx="0" cy="0"/>
          <a:chOff x="0" y="0"/>
          <a:chExt cx="0" cy="0"/>
        </a:xfrm>
      </p:grpSpPr>
      <p:sp>
        <p:nvSpPr>
          <p:cNvPr name="Freeform 2" id="2"/>
          <p:cNvSpPr/>
          <p:nvPr/>
        </p:nvSpPr>
        <p:spPr>
          <a:xfrm flipH="false" flipV="false" rot="0">
            <a:off x="12343450" y="714123"/>
            <a:ext cx="5390671" cy="9175610"/>
          </a:xfrm>
          <a:custGeom>
            <a:avLst/>
            <a:gdLst/>
            <a:ahLst/>
            <a:cxnLst/>
            <a:rect r="r" b="b" t="t" l="l"/>
            <a:pathLst>
              <a:path h="9175610" w="5390671">
                <a:moveTo>
                  <a:pt x="0" y="0"/>
                </a:moveTo>
                <a:lnTo>
                  <a:pt x="5390671" y="0"/>
                </a:lnTo>
                <a:lnTo>
                  <a:pt x="5390671" y="9175611"/>
                </a:lnTo>
                <a:lnTo>
                  <a:pt x="0" y="917561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512362" y="243399"/>
            <a:ext cx="8327144" cy="2381237"/>
          </a:xfrm>
          <a:prstGeom prst="rect">
            <a:avLst/>
          </a:prstGeom>
        </p:spPr>
        <p:txBody>
          <a:bodyPr anchor="t" rtlCol="false" tIns="0" lIns="0" bIns="0" rIns="0">
            <a:spAutoFit/>
          </a:bodyPr>
          <a:lstStyle/>
          <a:p>
            <a:pPr algn="l">
              <a:lnSpc>
                <a:spcPts val="8548"/>
              </a:lnSpc>
            </a:pPr>
            <a:r>
              <a:rPr lang="en-US" sz="7498">
                <a:solidFill>
                  <a:srgbClr val="000000"/>
                </a:solidFill>
                <a:latin typeface="Agrandir Wide"/>
                <a:ea typeface="Agrandir Wide"/>
                <a:cs typeface="Agrandir Wide"/>
                <a:sym typeface="Agrandir Wide"/>
              </a:rPr>
              <a:t>02 - Marketing Analysis</a:t>
            </a:r>
          </a:p>
        </p:txBody>
      </p:sp>
      <p:sp>
        <p:nvSpPr>
          <p:cNvPr name="TextBox 4" id="4"/>
          <p:cNvSpPr txBox="true"/>
          <p:nvPr/>
        </p:nvSpPr>
        <p:spPr>
          <a:xfrm rot="0">
            <a:off x="512362" y="2829232"/>
            <a:ext cx="10619758" cy="5139153"/>
          </a:xfrm>
          <a:prstGeom prst="rect">
            <a:avLst/>
          </a:prstGeom>
        </p:spPr>
        <p:txBody>
          <a:bodyPr anchor="t" rtlCol="false" tIns="0" lIns="0" bIns="0" rIns="0">
            <a:spAutoFit/>
          </a:bodyPr>
          <a:lstStyle/>
          <a:p>
            <a:pPr algn="l" marL="684653" indent="-342326" lvl="1">
              <a:lnSpc>
                <a:spcPts val="4439"/>
              </a:lnSpc>
              <a:buFont typeface="Arial"/>
              <a:buChar char="•"/>
            </a:pPr>
            <a:r>
              <a:rPr lang="en-US" sz="3171">
                <a:solidFill>
                  <a:srgbClr val="000000"/>
                </a:solidFill>
                <a:latin typeface="Agrandir Wide"/>
                <a:ea typeface="Agrandir Wide"/>
                <a:cs typeface="Agrandir Wide"/>
                <a:sym typeface="Agrandir Wide"/>
              </a:rPr>
              <a:t>Loyal User Reward.</a:t>
            </a:r>
          </a:p>
          <a:p>
            <a:pPr algn="l">
              <a:lnSpc>
                <a:spcPts val="4439"/>
              </a:lnSpc>
            </a:pPr>
          </a:p>
          <a:p>
            <a:pPr algn="l" marL="684653" indent="-342326" lvl="1">
              <a:lnSpc>
                <a:spcPts val="4439"/>
              </a:lnSpc>
              <a:buFont typeface="Arial"/>
              <a:buChar char="•"/>
            </a:pPr>
            <a:r>
              <a:rPr lang="en-US" sz="3171">
                <a:solidFill>
                  <a:srgbClr val="000000"/>
                </a:solidFill>
                <a:latin typeface="Agrandir Wide"/>
                <a:ea typeface="Agrandir Wide"/>
                <a:cs typeface="Agrandir Wide"/>
                <a:sym typeface="Agrandir Wide"/>
              </a:rPr>
              <a:t>Inactive User Engagement.</a:t>
            </a:r>
          </a:p>
          <a:p>
            <a:pPr algn="l">
              <a:lnSpc>
                <a:spcPts val="4439"/>
              </a:lnSpc>
            </a:pPr>
          </a:p>
          <a:p>
            <a:pPr algn="l" marL="684653" indent="-342326" lvl="1">
              <a:lnSpc>
                <a:spcPts val="4439"/>
              </a:lnSpc>
              <a:buFont typeface="Arial"/>
              <a:buChar char="•"/>
            </a:pPr>
            <a:r>
              <a:rPr lang="en-US" sz="3171">
                <a:solidFill>
                  <a:srgbClr val="000000"/>
                </a:solidFill>
                <a:latin typeface="Agrandir Wide"/>
                <a:ea typeface="Agrandir Wide"/>
                <a:cs typeface="Agrandir Wide"/>
                <a:sym typeface="Agrandir Wide"/>
              </a:rPr>
              <a:t>Contest Winner Declaration.</a:t>
            </a:r>
          </a:p>
          <a:p>
            <a:pPr algn="l">
              <a:lnSpc>
                <a:spcPts val="4439"/>
              </a:lnSpc>
            </a:pPr>
          </a:p>
          <a:p>
            <a:pPr algn="l" marL="684653" indent="-342326" lvl="1">
              <a:lnSpc>
                <a:spcPts val="4439"/>
              </a:lnSpc>
              <a:buFont typeface="Arial"/>
              <a:buChar char="•"/>
            </a:pPr>
            <a:r>
              <a:rPr lang="en-US" sz="3171">
                <a:solidFill>
                  <a:srgbClr val="000000"/>
                </a:solidFill>
                <a:latin typeface="Agrandir Wide"/>
                <a:ea typeface="Agrandir Wide"/>
                <a:cs typeface="Agrandir Wide"/>
                <a:sym typeface="Agrandir Wide"/>
              </a:rPr>
              <a:t>Hashtag Research.</a:t>
            </a:r>
          </a:p>
          <a:p>
            <a:pPr algn="l">
              <a:lnSpc>
                <a:spcPts val="4439"/>
              </a:lnSpc>
            </a:pPr>
          </a:p>
          <a:p>
            <a:pPr algn="l" marL="684653" indent="-342326" lvl="1">
              <a:lnSpc>
                <a:spcPts val="4439"/>
              </a:lnSpc>
              <a:buFont typeface="Arial"/>
              <a:buChar char="•"/>
            </a:pPr>
            <a:r>
              <a:rPr lang="en-US" sz="3171">
                <a:solidFill>
                  <a:srgbClr val="000000"/>
                </a:solidFill>
                <a:latin typeface="Agrandir Wide"/>
                <a:ea typeface="Agrandir Wide"/>
                <a:cs typeface="Agrandir Wide"/>
                <a:sym typeface="Agrandir Wide"/>
              </a:rPr>
              <a:t>Ad Campaign Launch.</a:t>
            </a:r>
          </a:p>
        </p:txBody>
      </p:sp>
    </p:spTree>
  </p:cSld>
  <p:clrMapOvr>
    <a:masterClrMapping/>
  </p:clrMapOvr>
  <p:transition spd="slow">
    <p:push dir="l"/>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4F0E9"/>
        </a:solidFill>
      </p:bgPr>
    </p:bg>
    <p:spTree>
      <p:nvGrpSpPr>
        <p:cNvPr id="1" name=""/>
        <p:cNvGrpSpPr/>
        <p:nvPr/>
      </p:nvGrpSpPr>
      <p:grpSpPr>
        <a:xfrm>
          <a:off x="0" y="0"/>
          <a:ext cx="0" cy="0"/>
          <a:chOff x="0" y="0"/>
          <a:chExt cx="0" cy="0"/>
        </a:xfrm>
      </p:grpSpPr>
      <p:grpSp>
        <p:nvGrpSpPr>
          <p:cNvPr name="Group 2" id="2"/>
          <p:cNvGrpSpPr/>
          <p:nvPr/>
        </p:nvGrpSpPr>
        <p:grpSpPr>
          <a:xfrm rot="0">
            <a:off x="15107252" y="7956192"/>
            <a:ext cx="2680669" cy="909824"/>
            <a:chOff x="0" y="0"/>
            <a:chExt cx="812800" cy="275866"/>
          </a:xfrm>
        </p:grpSpPr>
        <p:sp>
          <p:nvSpPr>
            <p:cNvPr name="Freeform 3" id="3"/>
            <p:cNvSpPr/>
            <p:nvPr/>
          </p:nvSpPr>
          <p:spPr>
            <a:xfrm flipH="false" flipV="false" rot="0">
              <a:off x="0" y="0"/>
              <a:ext cx="812800" cy="275866"/>
            </a:xfrm>
            <a:custGeom>
              <a:avLst/>
              <a:gdLst/>
              <a:ahLst/>
              <a:cxnLst/>
              <a:rect r="r" b="b" t="t" l="l"/>
              <a:pathLst>
                <a:path h="275866" w="812800">
                  <a:moveTo>
                    <a:pt x="137933" y="0"/>
                  </a:moveTo>
                  <a:lnTo>
                    <a:pt x="674867" y="0"/>
                  </a:lnTo>
                  <a:cubicBezTo>
                    <a:pt x="711449" y="0"/>
                    <a:pt x="746533" y="14532"/>
                    <a:pt x="772400" y="40400"/>
                  </a:cubicBezTo>
                  <a:cubicBezTo>
                    <a:pt x="798268" y="66267"/>
                    <a:pt x="812800" y="101351"/>
                    <a:pt x="812800" y="137933"/>
                  </a:cubicBezTo>
                  <a:lnTo>
                    <a:pt x="812800" y="137933"/>
                  </a:lnTo>
                  <a:cubicBezTo>
                    <a:pt x="812800" y="214111"/>
                    <a:pt x="751045" y="275866"/>
                    <a:pt x="674867" y="275866"/>
                  </a:cubicBezTo>
                  <a:lnTo>
                    <a:pt x="137933" y="275866"/>
                  </a:lnTo>
                  <a:cubicBezTo>
                    <a:pt x="101351" y="275866"/>
                    <a:pt x="66267" y="261334"/>
                    <a:pt x="40400" y="235466"/>
                  </a:cubicBezTo>
                  <a:cubicBezTo>
                    <a:pt x="14532" y="209599"/>
                    <a:pt x="0" y="174515"/>
                    <a:pt x="0" y="137933"/>
                  </a:cubicBezTo>
                  <a:lnTo>
                    <a:pt x="0" y="137933"/>
                  </a:lnTo>
                  <a:cubicBezTo>
                    <a:pt x="0" y="101351"/>
                    <a:pt x="14532" y="66267"/>
                    <a:pt x="40400" y="40400"/>
                  </a:cubicBezTo>
                  <a:cubicBezTo>
                    <a:pt x="66267" y="14532"/>
                    <a:pt x="101351" y="0"/>
                    <a:pt x="137933" y="0"/>
                  </a:cubicBezTo>
                  <a:close/>
                </a:path>
              </a:pathLst>
            </a:custGeom>
            <a:solidFill>
              <a:srgbClr val="000000">
                <a:alpha val="0"/>
              </a:srgbClr>
            </a:solidFill>
            <a:ln w="38100" cap="rnd">
              <a:solidFill>
                <a:srgbClr val="2145B2"/>
              </a:solidFill>
              <a:prstDash val="solid"/>
              <a:round/>
            </a:ln>
          </p:spPr>
        </p:sp>
        <p:sp>
          <p:nvSpPr>
            <p:cNvPr name="TextBox 4" id="4"/>
            <p:cNvSpPr txBox="true"/>
            <p:nvPr/>
          </p:nvSpPr>
          <p:spPr>
            <a:xfrm>
              <a:off x="0" y="-133350"/>
              <a:ext cx="812800" cy="409216"/>
            </a:xfrm>
            <a:prstGeom prst="rect">
              <a:avLst/>
            </a:prstGeom>
          </p:spPr>
          <p:txBody>
            <a:bodyPr anchor="ctr" rtlCol="false" tIns="50800" lIns="50800" bIns="50800" rIns="50800"/>
            <a:lstStyle/>
            <a:p>
              <a:pPr algn="ctr">
                <a:lnSpc>
                  <a:spcPts val="4199"/>
                </a:lnSpc>
              </a:pPr>
              <a:r>
                <a:rPr lang="en-US" sz="2999">
                  <a:solidFill>
                    <a:srgbClr val="2145B2"/>
                  </a:solidFill>
                  <a:latin typeface="Agrandir Wide"/>
                  <a:ea typeface="Agrandir Wide"/>
                  <a:cs typeface="Agrandir Wide"/>
                  <a:sym typeface="Agrandir Wide"/>
                </a:rPr>
                <a:t>Data</a:t>
              </a:r>
            </a:p>
          </p:txBody>
        </p:sp>
      </p:grpSp>
      <p:grpSp>
        <p:nvGrpSpPr>
          <p:cNvPr name="Group 5" id="5"/>
          <p:cNvGrpSpPr/>
          <p:nvPr/>
        </p:nvGrpSpPr>
        <p:grpSpPr>
          <a:xfrm rot="0">
            <a:off x="14066856" y="9116400"/>
            <a:ext cx="3800169" cy="909824"/>
            <a:chOff x="0" y="0"/>
            <a:chExt cx="1152241" cy="275866"/>
          </a:xfrm>
        </p:grpSpPr>
        <p:sp>
          <p:nvSpPr>
            <p:cNvPr name="Freeform 6" id="6"/>
            <p:cNvSpPr/>
            <p:nvPr/>
          </p:nvSpPr>
          <p:spPr>
            <a:xfrm flipH="false" flipV="false" rot="0">
              <a:off x="0" y="0"/>
              <a:ext cx="1152241" cy="275866"/>
            </a:xfrm>
            <a:custGeom>
              <a:avLst/>
              <a:gdLst/>
              <a:ahLst/>
              <a:cxnLst/>
              <a:rect r="r" b="b" t="t" l="l"/>
              <a:pathLst>
                <a:path h="275866" w="1152241">
                  <a:moveTo>
                    <a:pt x="103900" y="0"/>
                  </a:moveTo>
                  <a:lnTo>
                    <a:pt x="1048341" y="0"/>
                  </a:lnTo>
                  <a:cubicBezTo>
                    <a:pt x="1105723" y="0"/>
                    <a:pt x="1152241" y="46518"/>
                    <a:pt x="1152241" y="103900"/>
                  </a:cubicBezTo>
                  <a:lnTo>
                    <a:pt x="1152241" y="171966"/>
                  </a:lnTo>
                  <a:cubicBezTo>
                    <a:pt x="1152241" y="229348"/>
                    <a:pt x="1105723" y="275866"/>
                    <a:pt x="1048341" y="275866"/>
                  </a:cubicBezTo>
                  <a:lnTo>
                    <a:pt x="103900" y="275866"/>
                  </a:lnTo>
                  <a:cubicBezTo>
                    <a:pt x="76344" y="275866"/>
                    <a:pt x="49917" y="264919"/>
                    <a:pt x="30432" y="245434"/>
                  </a:cubicBezTo>
                  <a:cubicBezTo>
                    <a:pt x="10947" y="225949"/>
                    <a:pt x="0" y="199522"/>
                    <a:pt x="0" y="171966"/>
                  </a:cubicBezTo>
                  <a:lnTo>
                    <a:pt x="0" y="103900"/>
                  </a:lnTo>
                  <a:cubicBezTo>
                    <a:pt x="0" y="46518"/>
                    <a:pt x="46518" y="0"/>
                    <a:pt x="103900" y="0"/>
                  </a:cubicBezTo>
                  <a:close/>
                </a:path>
              </a:pathLst>
            </a:custGeom>
            <a:solidFill>
              <a:srgbClr val="000000">
                <a:alpha val="0"/>
              </a:srgbClr>
            </a:solidFill>
            <a:ln w="38100" cap="rnd">
              <a:solidFill>
                <a:srgbClr val="E0CA27"/>
              </a:solidFill>
              <a:prstDash val="solid"/>
              <a:round/>
            </a:ln>
          </p:spPr>
        </p:sp>
        <p:sp>
          <p:nvSpPr>
            <p:cNvPr name="TextBox 7" id="7"/>
            <p:cNvSpPr txBox="true"/>
            <p:nvPr/>
          </p:nvSpPr>
          <p:spPr>
            <a:xfrm>
              <a:off x="0" y="-133350"/>
              <a:ext cx="1152241" cy="409216"/>
            </a:xfrm>
            <a:prstGeom prst="rect">
              <a:avLst/>
            </a:prstGeom>
          </p:spPr>
          <p:txBody>
            <a:bodyPr anchor="ctr" rtlCol="false" tIns="50800" lIns="50800" bIns="50800" rIns="50800"/>
            <a:lstStyle/>
            <a:p>
              <a:pPr algn="ctr">
                <a:lnSpc>
                  <a:spcPts val="4199"/>
                </a:lnSpc>
              </a:pPr>
              <a:r>
                <a:rPr lang="en-US" sz="2999">
                  <a:solidFill>
                    <a:srgbClr val="E0CA27"/>
                  </a:solidFill>
                  <a:latin typeface="Agrandir Wide"/>
                  <a:ea typeface="Agrandir Wide"/>
                  <a:cs typeface="Agrandir Wide"/>
                  <a:sym typeface="Agrandir Wide"/>
                </a:rPr>
                <a:t>Analytics</a:t>
              </a:r>
            </a:p>
          </p:txBody>
        </p:sp>
      </p:grpSp>
      <p:sp>
        <p:nvSpPr>
          <p:cNvPr name="Freeform 8" id="8"/>
          <p:cNvSpPr/>
          <p:nvPr/>
        </p:nvSpPr>
        <p:spPr>
          <a:xfrm flipH="false" flipV="false" rot="0">
            <a:off x="506220" y="3182394"/>
            <a:ext cx="13407614" cy="6388919"/>
          </a:xfrm>
          <a:custGeom>
            <a:avLst/>
            <a:gdLst/>
            <a:ahLst/>
            <a:cxnLst/>
            <a:rect r="r" b="b" t="t" l="l"/>
            <a:pathLst>
              <a:path h="6388919" w="13407614">
                <a:moveTo>
                  <a:pt x="0" y="0"/>
                </a:moveTo>
                <a:lnTo>
                  <a:pt x="13407614" y="0"/>
                </a:lnTo>
                <a:lnTo>
                  <a:pt x="13407614" y="6388919"/>
                </a:lnTo>
                <a:lnTo>
                  <a:pt x="0" y="6388919"/>
                </a:lnTo>
                <a:lnTo>
                  <a:pt x="0" y="0"/>
                </a:lnTo>
                <a:close/>
              </a:path>
            </a:pathLst>
          </a:custGeom>
          <a:blipFill>
            <a:blip r:embed="rId2"/>
            <a:stretch>
              <a:fillRect l="0" t="0" r="0" b="0"/>
            </a:stretch>
          </a:blipFill>
        </p:spPr>
      </p:sp>
      <p:sp>
        <p:nvSpPr>
          <p:cNvPr name="TextBox 9" id="9"/>
          <p:cNvSpPr txBox="true"/>
          <p:nvPr/>
        </p:nvSpPr>
        <p:spPr>
          <a:xfrm rot="0">
            <a:off x="-323077" y="242389"/>
            <a:ext cx="9296854" cy="986396"/>
          </a:xfrm>
          <a:prstGeom prst="rect">
            <a:avLst/>
          </a:prstGeom>
        </p:spPr>
        <p:txBody>
          <a:bodyPr anchor="t" rtlCol="false" tIns="0" lIns="0" bIns="0" rIns="0">
            <a:spAutoFit/>
          </a:bodyPr>
          <a:lstStyle/>
          <a:p>
            <a:pPr algn="l" marL="1230262" indent="-615131" lvl="1">
              <a:lnSpc>
                <a:spcPts val="6496"/>
              </a:lnSpc>
              <a:buFont typeface="Arial"/>
              <a:buChar char="•"/>
            </a:pPr>
            <a:r>
              <a:rPr lang="en-US" sz="5698">
                <a:solidFill>
                  <a:srgbClr val="000000"/>
                </a:solidFill>
                <a:latin typeface="Agrandir Wide"/>
                <a:ea typeface="Agrandir Wide"/>
                <a:cs typeface="Agrandir Wide"/>
                <a:sym typeface="Agrandir Wide"/>
              </a:rPr>
              <a:t>Loyal User Reward</a:t>
            </a:r>
          </a:p>
        </p:txBody>
      </p:sp>
      <p:sp>
        <p:nvSpPr>
          <p:cNvPr name="TextBox 10" id="10"/>
          <p:cNvSpPr txBox="true"/>
          <p:nvPr/>
        </p:nvSpPr>
        <p:spPr>
          <a:xfrm rot="0">
            <a:off x="506220" y="1278622"/>
            <a:ext cx="17275560" cy="2742437"/>
          </a:xfrm>
          <a:prstGeom prst="rect">
            <a:avLst/>
          </a:prstGeom>
        </p:spPr>
        <p:txBody>
          <a:bodyPr anchor="t" rtlCol="false" tIns="0" lIns="0" bIns="0" rIns="0">
            <a:spAutoFit/>
          </a:bodyPr>
          <a:lstStyle/>
          <a:p>
            <a:pPr algn="just">
              <a:lnSpc>
                <a:spcPts val="4242"/>
              </a:lnSpc>
            </a:pPr>
            <a:r>
              <a:rPr lang="en-US" sz="3030">
                <a:solidFill>
                  <a:srgbClr val="000000"/>
                </a:solidFill>
                <a:latin typeface="Agrandir Wide"/>
                <a:ea typeface="Agrandir Wide"/>
                <a:cs typeface="Agrandir Wide"/>
                <a:sym typeface="Agrandir Wide"/>
              </a:rPr>
              <a:t>The marketing team wants to reward the most loyal users, i.e., those who have been using the platform for the longest time. So for that the loyal reward will be given to five oldest users on Instagram.</a:t>
            </a:r>
          </a:p>
          <a:p>
            <a:pPr algn="just">
              <a:lnSpc>
                <a:spcPts val="4242"/>
              </a:lnSpc>
            </a:pPr>
          </a:p>
          <a:p>
            <a:pPr algn="just">
              <a:lnSpc>
                <a:spcPts val="4242"/>
              </a:lnSpc>
            </a:pPr>
          </a:p>
        </p:txBody>
      </p:sp>
      <p:sp>
        <p:nvSpPr>
          <p:cNvPr name="TextBox 11" id="11"/>
          <p:cNvSpPr txBox="true"/>
          <p:nvPr/>
        </p:nvSpPr>
        <p:spPr>
          <a:xfrm rot="0">
            <a:off x="14327686" y="3096669"/>
            <a:ext cx="3278510" cy="2979094"/>
          </a:xfrm>
          <a:prstGeom prst="rect">
            <a:avLst/>
          </a:prstGeom>
        </p:spPr>
        <p:txBody>
          <a:bodyPr anchor="t" rtlCol="false" tIns="0" lIns="0" bIns="0" rIns="0">
            <a:spAutoFit/>
          </a:bodyPr>
          <a:lstStyle/>
          <a:p>
            <a:pPr algn="l">
              <a:lnSpc>
                <a:spcPts val="4559"/>
              </a:lnSpc>
            </a:pPr>
            <a:r>
              <a:rPr lang="en-US" sz="4034" i="true">
                <a:solidFill>
                  <a:srgbClr val="E0CA27"/>
                </a:solidFill>
                <a:latin typeface="Agrandir Wide Italics"/>
                <a:ea typeface="Agrandir Wide Italics"/>
                <a:cs typeface="Agrandir Wide Italics"/>
                <a:sym typeface="Agrandir Wide Italics"/>
              </a:rPr>
              <a:t>So, here’s the top 5 oldest users on Instagram.</a:t>
            </a:r>
          </a:p>
        </p:txBody>
      </p:sp>
    </p:spTree>
  </p:cSld>
  <p:clrMapOvr>
    <a:masterClrMapping/>
  </p:clrMapOvr>
  <p:transition spd="slow">
    <p:push dir="l"/>
  </p:transition>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4F0E9"/>
        </a:solidFill>
      </p:bgPr>
    </p:bg>
    <p:spTree>
      <p:nvGrpSpPr>
        <p:cNvPr id="1" name=""/>
        <p:cNvGrpSpPr/>
        <p:nvPr/>
      </p:nvGrpSpPr>
      <p:grpSpPr>
        <a:xfrm>
          <a:off x="0" y="0"/>
          <a:ext cx="0" cy="0"/>
          <a:chOff x="0" y="0"/>
          <a:chExt cx="0" cy="0"/>
        </a:xfrm>
      </p:grpSpPr>
      <p:grpSp>
        <p:nvGrpSpPr>
          <p:cNvPr name="Group 2" id="2"/>
          <p:cNvGrpSpPr/>
          <p:nvPr/>
        </p:nvGrpSpPr>
        <p:grpSpPr>
          <a:xfrm rot="0">
            <a:off x="15107252" y="7956192"/>
            <a:ext cx="2680669" cy="909824"/>
            <a:chOff x="0" y="0"/>
            <a:chExt cx="812800" cy="275866"/>
          </a:xfrm>
        </p:grpSpPr>
        <p:sp>
          <p:nvSpPr>
            <p:cNvPr name="Freeform 3" id="3"/>
            <p:cNvSpPr/>
            <p:nvPr/>
          </p:nvSpPr>
          <p:spPr>
            <a:xfrm flipH="false" flipV="false" rot="0">
              <a:off x="0" y="0"/>
              <a:ext cx="812800" cy="275866"/>
            </a:xfrm>
            <a:custGeom>
              <a:avLst/>
              <a:gdLst/>
              <a:ahLst/>
              <a:cxnLst/>
              <a:rect r="r" b="b" t="t" l="l"/>
              <a:pathLst>
                <a:path h="275866" w="812800">
                  <a:moveTo>
                    <a:pt x="137933" y="0"/>
                  </a:moveTo>
                  <a:lnTo>
                    <a:pt x="674867" y="0"/>
                  </a:lnTo>
                  <a:cubicBezTo>
                    <a:pt x="711449" y="0"/>
                    <a:pt x="746533" y="14532"/>
                    <a:pt x="772400" y="40400"/>
                  </a:cubicBezTo>
                  <a:cubicBezTo>
                    <a:pt x="798268" y="66267"/>
                    <a:pt x="812800" y="101351"/>
                    <a:pt x="812800" y="137933"/>
                  </a:cubicBezTo>
                  <a:lnTo>
                    <a:pt x="812800" y="137933"/>
                  </a:lnTo>
                  <a:cubicBezTo>
                    <a:pt x="812800" y="214111"/>
                    <a:pt x="751045" y="275866"/>
                    <a:pt x="674867" y="275866"/>
                  </a:cubicBezTo>
                  <a:lnTo>
                    <a:pt x="137933" y="275866"/>
                  </a:lnTo>
                  <a:cubicBezTo>
                    <a:pt x="101351" y="275866"/>
                    <a:pt x="66267" y="261334"/>
                    <a:pt x="40400" y="235466"/>
                  </a:cubicBezTo>
                  <a:cubicBezTo>
                    <a:pt x="14532" y="209599"/>
                    <a:pt x="0" y="174515"/>
                    <a:pt x="0" y="137933"/>
                  </a:cubicBezTo>
                  <a:lnTo>
                    <a:pt x="0" y="137933"/>
                  </a:lnTo>
                  <a:cubicBezTo>
                    <a:pt x="0" y="101351"/>
                    <a:pt x="14532" y="66267"/>
                    <a:pt x="40400" y="40400"/>
                  </a:cubicBezTo>
                  <a:cubicBezTo>
                    <a:pt x="66267" y="14532"/>
                    <a:pt x="101351" y="0"/>
                    <a:pt x="137933" y="0"/>
                  </a:cubicBezTo>
                  <a:close/>
                </a:path>
              </a:pathLst>
            </a:custGeom>
            <a:solidFill>
              <a:srgbClr val="000000">
                <a:alpha val="0"/>
              </a:srgbClr>
            </a:solidFill>
            <a:ln w="38100" cap="rnd">
              <a:solidFill>
                <a:srgbClr val="2145B2"/>
              </a:solidFill>
              <a:prstDash val="solid"/>
              <a:round/>
            </a:ln>
          </p:spPr>
        </p:sp>
        <p:sp>
          <p:nvSpPr>
            <p:cNvPr name="TextBox 4" id="4"/>
            <p:cNvSpPr txBox="true"/>
            <p:nvPr/>
          </p:nvSpPr>
          <p:spPr>
            <a:xfrm>
              <a:off x="0" y="-133350"/>
              <a:ext cx="812800" cy="409216"/>
            </a:xfrm>
            <a:prstGeom prst="rect">
              <a:avLst/>
            </a:prstGeom>
          </p:spPr>
          <p:txBody>
            <a:bodyPr anchor="ctr" rtlCol="false" tIns="50800" lIns="50800" bIns="50800" rIns="50800"/>
            <a:lstStyle/>
            <a:p>
              <a:pPr algn="ctr">
                <a:lnSpc>
                  <a:spcPts val="4199"/>
                </a:lnSpc>
              </a:pPr>
              <a:r>
                <a:rPr lang="en-US" sz="2999">
                  <a:solidFill>
                    <a:srgbClr val="2145B2"/>
                  </a:solidFill>
                  <a:latin typeface="Agrandir Wide"/>
                  <a:ea typeface="Agrandir Wide"/>
                  <a:cs typeface="Agrandir Wide"/>
                  <a:sym typeface="Agrandir Wide"/>
                </a:rPr>
                <a:t>Data</a:t>
              </a:r>
            </a:p>
          </p:txBody>
        </p:sp>
      </p:grpSp>
      <p:grpSp>
        <p:nvGrpSpPr>
          <p:cNvPr name="Group 5" id="5"/>
          <p:cNvGrpSpPr/>
          <p:nvPr/>
        </p:nvGrpSpPr>
        <p:grpSpPr>
          <a:xfrm rot="0">
            <a:off x="14066856" y="9116400"/>
            <a:ext cx="3800169" cy="909824"/>
            <a:chOff x="0" y="0"/>
            <a:chExt cx="1152241" cy="275866"/>
          </a:xfrm>
        </p:grpSpPr>
        <p:sp>
          <p:nvSpPr>
            <p:cNvPr name="Freeform 6" id="6"/>
            <p:cNvSpPr/>
            <p:nvPr/>
          </p:nvSpPr>
          <p:spPr>
            <a:xfrm flipH="false" flipV="false" rot="0">
              <a:off x="0" y="0"/>
              <a:ext cx="1152241" cy="275866"/>
            </a:xfrm>
            <a:custGeom>
              <a:avLst/>
              <a:gdLst/>
              <a:ahLst/>
              <a:cxnLst/>
              <a:rect r="r" b="b" t="t" l="l"/>
              <a:pathLst>
                <a:path h="275866" w="1152241">
                  <a:moveTo>
                    <a:pt x="103900" y="0"/>
                  </a:moveTo>
                  <a:lnTo>
                    <a:pt x="1048341" y="0"/>
                  </a:lnTo>
                  <a:cubicBezTo>
                    <a:pt x="1105723" y="0"/>
                    <a:pt x="1152241" y="46518"/>
                    <a:pt x="1152241" y="103900"/>
                  </a:cubicBezTo>
                  <a:lnTo>
                    <a:pt x="1152241" y="171966"/>
                  </a:lnTo>
                  <a:cubicBezTo>
                    <a:pt x="1152241" y="229348"/>
                    <a:pt x="1105723" y="275866"/>
                    <a:pt x="1048341" y="275866"/>
                  </a:cubicBezTo>
                  <a:lnTo>
                    <a:pt x="103900" y="275866"/>
                  </a:lnTo>
                  <a:cubicBezTo>
                    <a:pt x="76344" y="275866"/>
                    <a:pt x="49917" y="264919"/>
                    <a:pt x="30432" y="245434"/>
                  </a:cubicBezTo>
                  <a:cubicBezTo>
                    <a:pt x="10947" y="225949"/>
                    <a:pt x="0" y="199522"/>
                    <a:pt x="0" y="171966"/>
                  </a:cubicBezTo>
                  <a:lnTo>
                    <a:pt x="0" y="103900"/>
                  </a:lnTo>
                  <a:cubicBezTo>
                    <a:pt x="0" y="46518"/>
                    <a:pt x="46518" y="0"/>
                    <a:pt x="103900" y="0"/>
                  </a:cubicBezTo>
                  <a:close/>
                </a:path>
              </a:pathLst>
            </a:custGeom>
            <a:solidFill>
              <a:srgbClr val="000000">
                <a:alpha val="0"/>
              </a:srgbClr>
            </a:solidFill>
            <a:ln w="38100" cap="rnd">
              <a:solidFill>
                <a:srgbClr val="E0CA27"/>
              </a:solidFill>
              <a:prstDash val="solid"/>
              <a:round/>
            </a:ln>
          </p:spPr>
        </p:sp>
        <p:sp>
          <p:nvSpPr>
            <p:cNvPr name="TextBox 7" id="7"/>
            <p:cNvSpPr txBox="true"/>
            <p:nvPr/>
          </p:nvSpPr>
          <p:spPr>
            <a:xfrm>
              <a:off x="0" y="-133350"/>
              <a:ext cx="1152241" cy="409216"/>
            </a:xfrm>
            <a:prstGeom prst="rect">
              <a:avLst/>
            </a:prstGeom>
          </p:spPr>
          <p:txBody>
            <a:bodyPr anchor="ctr" rtlCol="false" tIns="50800" lIns="50800" bIns="50800" rIns="50800"/>
            <a:lstStyle/>
            <a:p>
              <a:pPr algn="ctr">
                <a:lnSpc>
                  <a:spcPts val="4199"/>
                </a:lnSpc>
              </a:pPr>
              <a:r>
                <a:rPr lang="en-US" sz="2999">
                  <a:solidFill>
                    <a:srgbClr val="E0CA27"/>
                  </a:solidFill>
                  <a:latin typeface="Agrandir Wide"/>
                  <a:ea typeface="Agrandir Wide"/>
                  <a:cs typeface="Agrandir Wide"/>
                  <a:sym typeface="Agrandir Wide"/>
                </a:rPr>
                <a:t>Analytics</a:t>
              </a:r>
            </a:p>
          </p:txBody>
        </p:sp>
      </p:grpSp>
      <p:sp>
        <p:nvSpPr>
          <p:cNvPr name="Freeform 8" id="8"/>
          <p:cNvSpPr/>
          <p:nvPr/>
        </p:nvSpPr>
        <p:spPr>
          <a:xfrm flipH="false" flipV="false" rot="0">
            <a:off x="494523" y="3137851"/>
            <a:ext cx="12645330" cy="6717832"/>
          </a:xfrm>
          <a:custGeom>
            <a:avLst/>
            <a:gdLst/>
            <a:ahLst/>
            <a:cxnLst/>
            <a:rect r="r" b="b" t="t" l="l"/>
            <a:pathLst>
              <a:path h="6717832" w="12645330">
                <a:moveTo>
                  <a:pt x="0" y="0"/>
                </a:moveTo>
                <a:lnTo>
                  <a:pt x="12645330" y="0"/>
                </a:lnTo>
                <a:lnTo>
                  <a:pt x="12645330" y="6717831"/>
                </a:lnTo>
                <a:lnTo>
                  <a:pt x="0" y="6717831"/>
                </a:lnTo>
                <a:lnTo>
                  <a:pt x="0" y="0"/>
                </a:lnTo>
                <a:close/>
              </a:path>
            </a:pathLst>
          </a:custGeom>
          <a:blipFill>
            <a:blip r:embed="rId2"/>
            <a:stretch>
              <a:fillRect l="0" t="0" r="0" b="0"/>
            </a:stretch>
          </a:blipFill>
        </p:spPr>
      </p:sp>
      <p:sp>
        <p:nvSpPr>
          <p:cNvPr name="TextBox 9" id="9"/>
          <p:cNvSpPr txBox="true"/>
          <p:nvPr/>
        </p:nvSpPr>
        <p:spPr>
          <a:xfrm rot="0">
            <a:off x="0" y="264710"/>
            <a:ext cx="12709252" cy="985634"/>
          </a:xfrm>
          <a:prstGeom prst="rect">
            <a:avLst/>
          </a:prstGeom>
        </p:spPr>
        <p:txBody>
          <a:bodyPr anchor="t" rtlCol="false" tIns="0" lIns="0" bIns="0" rIns="0">
            <a:spAutoFit/>
          </a:bodyPr>
          <a:lstStyle/>
          <a:p>
            <a:pPr algn="l" marL="1208673" indent="-604336" lvl="1">
              <a:lnSpc>
                <a:spcPts val="6382"/>
              </a:lnSpc>
              <a:buFont typeface="Arial"/>
              <a:buChar char="•"/>
            </a:pPr>
            <a:r>
              <a:rPr lang="en-US" sz="5598">
                <a:solidFill>
                  <a:srgbClr val="000000"/>
                </a:solidFill>
                <a:latin typeface="Agrandir Wide"/>
                <a:ea typeface="Agrandir Wide"/>
                <a:cs typeface="Agrandir Wide"/>
                <a:sym typeface="Agrandir Wide"/>
              </a:rPr>
              <a:t>Inactive User Engagement</a:t>
            </a:r>
          </a:p>
        </p:txBody>
      </p:sp>
      <p:sp>
        <p:nvSpPr>
          <p:cNvPr name="TextBox 10" id="10"/>
          <p:cNvSpPr txBox="true"/>
          <p:nvPr/>
        </p:nvSpPr>
        <p:spPr>
          <a:xfrm rot="0">
            <a:off x="494523" y="1272080"/>
            <a:ext cx="16916429" cy="3275837"/>
          </a:xfrm>
          <a:prstGeom prst="rect">
            <a:avLst/>
          </a:prstGeom>
        </p:spPr>
        <p:txBody>
          <a:bodyPr anchor="t" rtlCol="false" tIns="0" lIns="0" bIns="0" rIns="0">
            <a:spAutoFit/>
          </a:bodyPr>
          <a:lstStyle/>
          <a:p>
            <a:pPr algn="l">
              <a:lnSpc>
                <a:spcPts val="4242"/>
              </a:lnSpc>
            </a:pPr>
            <a:r>
              <a:rPr lang="en-US" sz="3030">
                <a:solidFill>
                  <a:srgbClr val="000000"/>
                </a:solidFill>
                <a:latin typeface="Agrandir Wide"/>
                <a:ea typeface="Agrandir Wide"/>
                <a:cs typeface="Agrandir Wide"/>
                <a:sym typeface="Agrandir Wide"/>
              </a:rPr>
              <a:t>The team wants to encourage inactive users to start posting by sending them promotional emails. So, here’s the users who have never posted a single photo on Instagram.</a:t>
            </a:r>
          </a:p>
          <a:p>
            <a:pPr algn="l">
              <a:lnSpc>
                <a:spcPts val="4242"/>
              </a:lnSpc>
            </a:pPr>
          </a:p>
          <a:p>
            <a:pPr algn="l">
              <a:lnSpc>
                <a:spcPts val="4242"/>
              </a:lnSpc>
            </a:pPr>
          </a:p>
          <a:p>
            <a:pPr algn="l">
              <a:lnSpc>
                <a:spcPts val="4242"/>
              </a:lnSpc>
            </a:pPr>
          </a:p>
        </p:txBody>
      </p:sp>
      <p:sp>
        <p:nvSpPr>
          <p:cNvPr name="TextBox 11" id="11"/>
          <p:cNvSpPr txBox="true"/>
          <p:nvPr/>
        </p:nvSpPr>
        <p:spPr>
          <a:xfrm rot="0">
            <a:off x="13791238" y="3052126"/>
            <a:ext cx="3278510" cy="3550594"/>
          </a:xfrm>
          <a:prstGeom prst="rect">
            <a:avLst/>
          </a:prstGeom>
        </p:spPr>
        <p:txBody>
          <a:bodyPr anchor="t" rtlCol="false" tIns="0" lIns="0" bIns="0" rIns="0">
            <a:spAutoFit/>
          </a:bodyPr>
          <a:lstStyle/>
          <a:p>
            <a:pPr algn="l">
              <a:lnSpc>
                <a:spcPts val="4559"/>
              </a:lnSpc>
            </a:pPr>
            <a:r>
              <a:rPr lang="en-US" sz="4034" i="true">
                <a:solidFill>
                  <a:srgbClr val="E0CA27"/>
                </a:solidFill>
                <a:latin typeface="Agrandir Wide Italics"/>
                <a:ea typeface="Agrandir Wide Italics"/>
                <a:cs typeface="Agrandir Wide Italics"/>
                <a:sym typeface="Agrandir Wide Italics"/>
              </a:rPr>
              <a:t>But, there’s no user without a single photo posted on Instagram</a:t>
            </a:r>
          </a:p>
        </p:txBody>
      </p:sp>
    </p:spTree>
  </p:cSld>
  <p:clrMapOvr>
    <a:masterClrMapping/>
  </p:clrMapOvr>
  <p:transition spd="slow">
    <p:push dir="l"/>
  </p:transition>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4F0E9"/>
        </a:solidFill>
      </p:bgPr>
    </p:bg>
    <p:spTree>
      <p:nvGrpSpPr>
        <p:cNvPr id="1" name=""/>
        <p:cNvGrpSpPr/>
        <p:nvPr/>
      </p:nvGrpSpPr>
      <p:grpSpPr>
        <a:xfrm>
          <a:off x="0" y="0"/>
          <a:ext cx="0" cy="0"/>
          <a:chOff x="0" y="0"/>
          <a:chExt cx="0" cy="0"/>
        </a:xfrm>
      </p:grpSpPr>
      <p:grpSp>
        <p:nvGrpSpPr>
          <p:cNvPr name="Group 2" id="2"/>
          <p:cNvGrpSpPr/>
          <p:nvPr/>
        </p:nvGrpSpPr>
        <p:grpSpPr>
          <a:xfrm rot="0">
            <a:off x="15107252" y="7956192"/>
            <a:ext cx="2680669" cy="909824"/>
            <a:chOff x="0" y="0"/>
            <a:chExt cx="812800" cy="275866"/>
          </a:xfrm>
        </p:grpSpPr>
        <p:sp>
          <p:nvSpPr>
            <p:cNvPr name="Freeform 3" id="3"/>
            <p:cNvSpPr/>
            <p:nvPr/>
          </p:nvSpPr>
          <p:spPr>
            <a:xfrm flipH="false" flipV="false" rot="0">
              <a:off x="0" y="0"/>
              <a:ext cx="812800" cy="275866"/>
            </a:xfrm>
            <a:custGeom>
              <a:avLst/>
              <a:gdLst/>
              <a:ahLst/>
              <a:cxnLst/>
              <a:rect r="r" b="b" t="t" l="l"/>
              <a:pathLst>
                <a:path h="275866" w="812800">
                  <a:moveTo>
                    <a:pt x="137933" y="0"/>
                  </a:moveTo>
                  <a:lnTo>
                    <a:pt x="674867" y="0"/>
                  </a:lnTo>
                  <a:cubicBezTo>
                    <a:pt x="711449" y="0"/>
                    <a:pt x="746533" y="14532"/>
                    <a:pt x="772400" y="40400"/>
                  </a:cubicBezTo>
                  <a:cubicBezTo>
                    <a:pt x="798268" y="66267"/>
                    <a:pt x="812800" y="101351"/>
                    <a:pt x="812800" y="137933"/>
                  </a:cubicBezTo>
                  <a:lnTo>
                    <a:pt x="812800" y="137933"/>
                  </a:lnTo>
                  <a:cubicBezTo>
                    <a:pt x="812800" y="214111"/>
                    <a:pt x="751045" y="275866"/>
                    <a:pt x="674867" y="275866"/>
                  </a:cubicBezTo>
                  <a:lnTo>
                    <a:pt x="137933" y="275866"/>
                  </a:lnTo>
                  <a:cubicBezTo>
                    <a:pt x="101351" y="275866"/>
                    <a:pt x="66267" y="261334"/>
                    <a:pt x="40400" y="235466"/>
                  </a:cubicBezTo>
                  <a:cubicBezTo>
                    <a:pt x="14532" y="209599"/>
                    <a:pt x="0" y="174515"/>
                    <a:pt x="0" y="137933"/>
                  </a:cubicBezTo>
                  <a:lnTo>
                    <a:pt x="0" y="137933"/>
                  </a:lnTo>
                  <a:cubicBezTo>
                    <a:pt x="0" y="101351"/>
                    <a:pt x="14532" y="66267"/>
                    <a:pt x="40400" y="40400"/>
                  </a:cubicBezTo>
                  <a:cubicBezTo>
                    <a:pt x="66267" y="14532"/>
                    <a:pt x="101351" y="0"/>
                    <a:pt x="137933" y="0"/>
                  </a:cubicBezTo>
                  <a:close/>
                </a:path>
              </a:pathLst>
            </a:custGeom>
            <a:solidFill>
              <a:srgbClr val="000000">
                <a:alpha val="0"/>
              </a:srgbClr>
            </a:solidFill>
            <a:ln w="38100" cap="rnd">
              <a:solidFill>
                <a:srgbClr val="2145B2"/>
              </a:solidFill>
              <a:prstDash val="solid"/>
              <a:round/>
            </a:ln>
          </p:spPr>
        </p:sp>
        <p:sp>
          <p:nvSpPr>
            <p:cNvPr name="TextBox 4" id="4"/>
            <p:cNvSpPr txBox="true"/>
            <p:nvPr/>
          </p:nvSpPr>
          <p:spPr>
            <a:xfrm>
              <a:off x="0" y="-133350"/>
              <a:ext cx="812800" cy="409216"/>
            </a:xfrm>
            <a:prstGeom prst="rect">
              <a:avLst/>
            </a:prstGeom>
          </p:spPr>
          <p:txBody>
            <a:bodyPr anchor="ctr" rtlCol="false" tIns="50800" lIns="50800" bIns="50800" rIns="50800"/>
            <a:lstStyle/>
            <a:p>
              <a:pPr algn="ctr">
                <a:lnSpc>
                  <a:spcPts val="4199"/>
                </a:lnSpc>
              </a:pPr>
              <a:r>
                <a:rPr lang="en-US" sz="2999">
                  <a:solidFill>
                    <a:srgbClr val="2145B2"/>
                  </a:solidFill>
                  <a:latin typeface="Agrandir Wide"/>
                  <a:ea typeface="Agrandir Wide"/>
                  <a:cs typeface="Agrandir Wide"/>
                  <a:sym typeface="Agrandir Wide"/>
                </a:rPr>
                <a:t>Data</a:t>
              </a:r>
            </a:p>
          </p:txBody>
        </p:sp>
      </p:grpSp>
      <p:grpSp>
        <p:nvGrpSpPr>
          <p:cNvPr name="Group 5" id="5"/>
          <p:cNvGrpSpPr/>
          <p:nvPr/>
        </p:nvGrpSpPr>
        <p:grpSpPr>
          <a:xfrm rot="0">
            <a:off x="14066856" y="9116400"/>
            <a:ext cx="3800169" cy="909824"/>
            <a:chOff x="0" y="0"/>
            <a:chExt cx="1152241" cy="275866"/>
          </a:xfrm>
        </p:grpSpPr>
        <p:sp>
          <p:nvSpPr>
            <p:cNvPr name="Freeform 6" id="6"/>
            <p:cNvSpPr/>
            <p:nvPr/>
          </p:nvSpPr>
          <p:spPr>
            <a:xfrm flipH="false" flipV="false" rot="0">
              <a:off x="0" y="0"/>
              <a:ext cx="1152241" cy="275866"/>
            </a:xfrm>
            <a:custGeom>
              <a:avLst/>
              <a:gdLst/>
              <a:ahLst/>
              <a:cxnLst/>
              <a:rect r="r" b="b" t="t" l="l"/>
              <a:pathLst>
                <a:path h="275866" w="1152241">
                  <a:moveTo>
                    <a:pt x="103900" y="0"/>
                  </a:moveTo>
                  <a:lnTo>
                    <a:pt x="1048341" y="0"/>
                  </a:lnTo>
                  <a:cubicBezTo>
                    <a:pt x="1105723" y="0"/>
                    <a:pt x="1152241" y="46518"/>
                    <a:pt x="1152241" y="103900"/>
                  </a:cubicBezTo>
                  <a:lnTo>
                    <a:pt x="1152241" y="171966"/>
                  </a:lnTo>
                  <a:cubicBezTo>
                    <a:pt x="1152241" y="229348"/>
                    <a:pt x="1105723" y="275866"/>
                    <a:pt x="1048341" y="275866"/>
                  </a:cubicBezTo>
                  <a:lnTo>
                    <a:pt x="103900" y="275866"/>
                  </a:lnTo>
                  <a:cubicBezTo>
                    <a:pt x="76344" y="275866"/>
                    <a:pt x="49917" y="264919"/>
                    <a:pt x="30432" y="245434"/>
                  </a:cubicBezTo>
                  <a:cubicBezTo>
                    <a:pt x="10947" y="225949"/>
                    <a:pt x="0" y="199522"/>
                    <a:pt x="0" y="171966"/>
                  </a:cubicBezTo>
                  <a:lnTo>
                    <a:pt x="0" y="103900"/>
                  </a:lnTo>
                  <a:cubicBezTo>
                    <a:pt x="0" y="46518"/>
                    <a:pt x="46518" y="0"/>
                    <a:pt x="103900" y="0"/>
                  </a:cubicBezTo>
                  <a:close/>
                </a:path>
              </a:pathLst>
            </a:custGeom>
            <a:solidFill>
              <a:srgbClr val="000000">
                <a:alpha val="0"/>
              </a:srgbClr>
            </a:solidFill>
            <a:ln w="38100" cap="rnd">
              <a:solidFill>
                <a:srgbClr val="E0CA27"/>
              </a:solidFill>
              <a:prstDash val="solid"/>
              <a:round/>
            </a:ln>
          </p:spPr>
        </p:sp>
        <p:sp>
          <p:nvSpPr>
            <p:cNvPr name="TextBox 7" id="7"/>
            <p:cNvSpPr txBox="true"/>
            <p:nvPr/>
          </p:nvSpPr>
          <p:spPr>
            <a:xfrm>
              <a:off x="0" y="-133350"/>
              <a:ext cx="1152241" cy="409216"/>
            </a:xfrm>
            <a:prstGeom prst="rect">
              <a:avLst/>
            </a:prstGeom>
          </p:spPr>
          <p:txBody>
            <a:bodyPr anchor="ctr" rtlCol="false" tIns="50800" lIns="50800" bIns="50800" rIns="50800"/>
            <a:lstStyle/>
            <a:p>
              <a:pPr algn="ctr">
                <a:lnSpc>
                  <a:spcPts val="4199"/>
                </a:lnSpc>
              </a:pPr>
              <a:r>
                <a:rPr lang="en-US" sz="2999">
                  <a:solidFill>
                    <a:srgbClr val="E0CA27"/>
                  </a:solidFill>
                  <a:latin typeface="Agrandir Wide"/>
                  <a:ea typeface="Agrandir Wide"/>
                  <a:cs typeface="Agrandir Wide"/>
                  <a:sym typeface="Agrandir Wide"/>
                </a:rPr>
                <a:t>Analytics</a:t>
              </a:r>
            </a:p>
          </p:txBody>
        </p:sp>
      </p:grpSp>
      <p:sp>
        <p:nvSpPr>
          <p:cNvPr name="Freeform 8" id="8"/>
          <p:cNvSpPr/>
          <p:nvPr/>
        </p:nvSpPr>
        <p:spPr>
          <a:xfrm flipH="false" flipV="false" rot="0">
            <a:off x="331605" y="3137851"/>
            <a:ext cx="13115501" cy="6967610"/>
          </a:xfrm>
          <a:custGeom>
            <a:avLst/>
            <a:gdLst/>
            <a:ahLst/>
            <a:cxnLst/>
            <a:rect r="r" b="b" t="t" l="l"/>
            <a:pathLst>
              <a:path h="6967610" w="13115501">
                <a:moveTo>
                  <a:pt x="0" y="0"/>
                </a:moveTo>
                <a:lnTo>
                  <a:pt x="13115501" y="0"/>
                </a:lnTo>
                <a:lnTo>
                  <a:pt x="13115501" y="6967610"/>
                </a:lnTo>
                <a:lnTo>
                  <a:pt x="0" y="6967610"/>
                </a:lnTo>
                <a:lnTo>
                  <a:pt x="0" y="0"/>
                </a:lnTo>
                <a:close/>
              </a:path>
            </a:pathLst>
          </a:custGeom>
          <a:blipFill>
            <a:blip r:embed="rId2"/>
            <a:stretch>
              <a:fillRect l="0" t="0" r="0" b="0"/>
            </a:stretch>
          </a:blipFill>
        </p:spPr>
      </p:sp>
      <p:sp>
        <p:nvSpPr>
          <p:cNvPr name="TextBox 9" id="9"/>
          <p:cNvSpPr txBox="true"/>
          <p:nvPr/>
        </p:nvSpPr>
        <p:spPr>
          <a:xfrm rot="0">
            <a:off x="0" y="264710"/>
            <a:ext cx="12709252" cy="985634"/>
          </a:xfrm>
          <a:prstGeom prst="rect">
            <a:avLst/>
          </a:prstGeom>
        </p:spPr>
        <p:txBody>
          <a:bodyPr anchor="t" rtlCol="false" tIns="0" lIns="0" bIns="0" rIns="0">
            <a:spAutoFit/>
          </a:bodyPr>
          <a:lstStyle/>
          <a:p>
            <a:pPr algn="l" marL="1208673" indent="-604336" lvl="1">
              <a:lnSpc>
                <a:spcPts val="6382"/>
              </a:lnSpc>
              <a:buFont typeface="Arial"/>
              <a:buChar char="•"/>
            </a:pPr>
            <a:r>
              <a:rPr lang="en-US" sz="5598">
                <a:solidFill>
                  <a:srgbClr val="000000"/>
                </a:solidFill>
                <a:latin typeface="Agrandir Wide"/>
                <a:ea typeface="Agrandir Wide"/>
                <a:cs typeface="Agrandir Wide"/>
                <a:sym typeface="Agrandir Wide"/>
              </a:rPr>
              <a:t>Contest Winner Declaration</a:t>
            </a:r>
          </a:p>
        </p:txBody>
      </p:sp>
      <p:sp>
        <p:nvSpPr>
          <p:cNvPr name="TextBox 10" id="10"/>
          <p:cNvSpPr txBox="true"/>
          <p:nvPr/>
        </p:nvSpPr>
        <p:spPr>
          <a:xfrm rot="0">
            <a:off x="494523" y="1272080"/>
            <a:ext cx="16916429" cy="3275837"/>
          </a:xfrm>
          <a:prstGeom prst="rect">
            <a:avLst/>
          </a:prstGeom>
        </p:spPr>
        <p:txBody>
          <a:bodyPr anchor="t" rtlCol="false" tIns="0" lIns="0" bIns="0" rIns="0">
            <a:spAutoFit/>
          </a:bodyPr>
          <a:lstStyle/>
          <a:p>
            <a:pPr algn="l">
              <a:lnSpc>
                <a:spcPts val="4242"/>
              </a:lnSpc>
            </a:pPr>
            <a:r>
              <a:rPr lang="en-US" sz="3030">
                <a:solidFill>
                  <a:srgbClr val="000000"/>
                </a:solidFill>
                <a:latin typeface="Agrandir Wide"/>
                <a:ea typeface="Agrandir Wide"/>
                <a:cs typeface="Agrandir Wide"/>
                <a:sym typeface="Agrandir Wide"/>
              </a:rPr>
              <a:t>The team has organized a contest where the user with the most likes on a single photo wins. So, I have to determine the winner of the contest and provide their details to the team.</a:t>
            </a:r>
          </a:p>
          <a:p>
            <a:pPr algn="l">
              <a:lnSpc>
                <a:spcPts val="4242"/>
              </a:lnSpc>
            </a:pPr>
          </a:p>
          <a:p>
            <a:pPr algn="l">
              <a:lnSpc>
                <a:spcPts val="4242"/>
              </a:lnSpc>
            </a:pPr>
          </a:p>
          <a:p>
            <a:pPr algn="l">
              <a:lnSpc>
                <a:spcPts val="4242"/>
              </a:lnSpc>
            </a:pPr>
          </a:p>
        </p:txBody>
      </p:sp>
      <p:sp>
        <p:nvSpPr>
          <p:cNvPr name="TextBox 11" id="11"/>
          <p:cNvSpPr txBox="true"/>
          <p:nvPr/>
        </p:nvSpPr>
        <p:spPr>
          <a:xfrm rot="0">
            <a:off x="13725135" y="3052126"/>
            <a:ext cx="3278510" cy="2979094"/>
          </a:xfrm>
          <a:prstGeom prst="rect">
            <a:avLst/>
          </a:prstGeom>
        </p:spPr>
        <p:txBody>
          <a:bodyPr anchor="t" rtlCol="false" tIns="0" lIns="0" bIns="0" rIns="0">
            <a:spAutoFit/>
          </a:bodyPr>
          <a:lstStyle/>
          <a:p>
            <a:pPr algn="l">
              <a:lnSpc>
                <a:spcPts val="4559"/>
              </a:lnSpc>
            </a:pPr>
            <a:r>
              <a:rPr lang="en-US" sz="4034" i="true">
                <a:solidFill>
                  <a:srgbClr val="E0CA27"/>
                </a:solidFill>
                <a:latin typeface="Agrandir Wide Italics"/>
                <a:ea typeface="Agrandir Wide Italics"/>
                <a:cs typeface="Agrandir Wide Italics"/>
                <a:sym typeface="Agrandir Wide Italics"/>
              </a:rPr>
              <a:t>Here’s the user with most no. of likes in a single photo.</a:t>
            </a:r>
          </a:p>
        </p:txBody>
      </p:sp>
    </p:spTree>
  </p:cSld>
  <p:clrMapOvr>
    <a:masterClrMapping/>
  </p:clrMapOvr>
  <p:transition spd="slow">
    <p:push dir="l"/>
  </p:transition>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4F0E9"/>
        </a:solidFill>
      </p:bgPr>
    </p:bg>
    <p:spTree>
      <p:nvGrpSpPr>
        <p:cNvPr id="1" name=""/>
        <p:cNvGrpSpPr/>
        <p:nvPr/>
      </p:nvGrpSpPr>
      <p:grpSpPr>
        <a:xfrm>
          <a:off x="0" y="0"/>
          <a:ext cx="0" cy="0"/>
          <a:chOff x="0" y="0"/>
          <a:chExt cx="0" cy="0"/>
        </a:xfrm>
      </p:grpSpPr>
      <p:grpSp>
        <p:nvGrpSpPr>
          <p:cNvPr name="Group 2" id="2"/>
          <p:cNvGrpSpPr/>
          <p:nvPr/>
        </p:nvGrpSpPr>
        <p:grpSpPr>
          <a:xfrm rot="0">
            <a:off x="15107252" y="7956192"/>
            <a:ext cx="2680669" cy="909824"/>
            <a:chOff x="0" y="0"/>
            <a:chExt cx="812800" cy="275866"/>
          </a:xfrm>
        </p:grpSpPr>
        <p:sp>
          <p:nvSpPr>
            <p:cNvPr name="Freeform 3" id="3"/>
            <p:cNvSpPr/>
            <p:nvPr/>
          </p:nvSpPr>
          <p:spPr>
            <a:xfrm flipH="false" flipV="false" rot="0">
              <a:off x="0" y="0"/>
              <a:ext cx="812800" cy="275866"/>
            </a:xfrm>
            <a:custGeom>
              <a:avLst/>
              <a:gdLst/>
              <a:ahLst/>
              <a:cxnLst/>
              <a:rect r="r" b="b" t="t" l="l"/>
              <a:pathLst>
                <a:path h="275866" w="812800">
                  <a:moveTo>
                    <a:pt x="137933" y="0"/>
                  </a:moveTo>
                  <a:lnTo>
                    <a:pt x="674867" y="0"/>
                  </a:lnTo>
                  <a:cubicBezTo>
                    <a:pt x="711449" y="0"/>
                    <a:pt x="746533" y="14532"/>
                    <a:pt x="772400" y="40400"/>
                  </a:cubicBezTo>
                  <a:cubicBezTo>
                    <a:pt x="798268" y="66267"/>
                    <a:pt x="812800" y="101351"/>
                    <a:pt x="812800" y="137933"/>
                  </a:cubicBezTo>
                  <a:lnTo>
                    <a:pt x="812800" y="137933"/>
                  </a:lnTo>
                  <a:cubicBezTo>
                    <a:pt x="812800" y="214111"/>
                    <a:pt x="751045" y="275866"/>
                    <a:pt x="674867" y="275866"/>
                  </a:cubicBezTo>
                  <a:lnTo>
                    <a:pt x="137933" y="275866"/>
                  </a:lnTo>
                  <a:cubicBezTo>
                    <a:pt x="101351" y="275866"/>
                    <a:pt x="66267" y="261334"/>
                    <a:pt x="40400" y="235466"/>
                  </a:cubicBezTo>
                  <a:cubicBezTo>
                    <a:pt x="14532" y="209599"/>
                    <a:pt x="0" y="174515"/>
                    <a:pt x="0" y="137933"/>
                  </a:cubicBezTo>
                  <a:lnTo>
                    <a:pt x="0" y="137933"/>
                  </a:lnTo>
                  <a:cubicBezTo>
                    <a:pt x="0" y="101351"/>
                    <a:pt x="14532" y="66267"/>
                    <a:pt x="40400" y="40400"/>
                  </a:cubicBezTo>
                  <a:cubicBezTo>
                    <a:pt x="66267" y="14532"/>
                    <a:pt x="101351" y="0"/>
                    <a:pt x="137933" y="0"/>
                  </a:cubicBezTo>
                  <a:close/>
                </a:path>
              </a:pathLst>
            </a:custGeom>
            <a:solidFill>
              <a:srgbClr val="000000">
                <a:alpha val="0"/>
              </a:srgbClr>
            </a:solidFill>
            <a:ln w="38100" cap="rnd">
              <a:solidFill>
                <a:srgbClr val="2145B2"/>
              </a:solidFill>
              <a:prstDash val="solid"/>
              <a:round/>
            </a:ln>
          </p:spPr>
        </p:sp>
        <p:sp>
          <p:nvSpPr>
            <p:cNvPr name="TextBox 4" id="4"/>
            <p:cNvSpPr txBox="true"/>
            <p:nvPr/>
          </p:nvSpPr>
          <p:spPr>
            <a:xfrm>
              <a:off x="0" y="-133350"/>
              <a:ext cx="812800" cy="409216"/>
            </a:xfrm>
            <a:prstGeom prst="rect">
              <a:avLst/>
            </a:prstGeom>
          </p:spPr>
          <p:txBody>
            <a:bodyPr anchor="ctr" rtlCol="false" tIns="50800" lIns="50800" bIns="50800" rIns="50800"/>
            <a:lstStyle/>
            <a:p>
              <a:pPr algn="ctr">
                <a:lnSpc>
                  <a:spcPts val="4199"/>
                </a:lnSpc>
              </a:pPr>
              <a:r>
                <a:rPr lang="en-US" sz="2999">
                  <a:solidFill>
                    <a:srgbClr val="2145B2"/>
                  </a:solidFill>
                  <a:latin typeface="Agrandir Wide"/>
                  <a:ea typeface="Agrandir Wide"/>
                  <a:cs typeface="Agrandir Wide"/>
                  <a:sym typeface="Agrandir Wide"/>
                </a:rPr>
                <a:t>Data</a:t>
              </a:r>
            </a:p>
          </p:txBody>
        </p:sp>
      </p:grpSp>
      <p:grpSp>
        <p:nvGrpSpPr>
          <p:cNvPr name="Group 5" id="5"/>
          <p:cNvGrpSpPr/>
          <p:nvPr/>
        </p:nvGrpSpPr>
        <p:grpSpPr>
          <a:xfrm rot="0">
            <a:off x="14066856" y="9116400"/>
            <a:ext cx="3800169" cy="909824"/>
            <a:chOff x="0" y="0"/>
            <a:chExt cx="1152241" cy="275866"/>
          </a:xfrm>
        </p:grpSpPr>
        <p:sp>
          <p:nvSpPr>
            <p:cNvPr name="Freeform 6" id="6"/>
            <p:cNvSpPr/>
            <p:nvPr/>
          </p:nvSpPr>
          <p:spPr>
            <a:xfrm flipH="false" flipV="false" rot="0">
              <a:off x="0" y="0"/>
              <a:ext cx="1152241" cy="275866"/>
            </a:xfrm>
            <a:custGeom>
              <a:avLst/>
              <a:gdLst/>
              <a:ahLst/>
              <a:cxnLst/>
              <a:rect r="r" b="b" t="t" l="l"/>
              <a:pathLst>
                <a:path h="275866" w="1152241">
                  <a:moveTo>
                    <a:pt x="103900" y="0"/>
                  </a:moveTo>
                  <a:lnTo>
                    <a:pt x="1048341" y="0"/>
                  </a:lnTo>
                  <a:cubicBezTo>
                    <a:pt x="1105723" y="0"/>
                    <a:pt x="1152241" y="46518"/>
                    <a:pt x="1152241" y="103900"/>
                  </a:cubicBezTo>
                  <a:lnTo>
                    <a:pt x="1152241" y="171966"/>
                  </a:lnTo>
                  <a:cubicBezTo>
                    <a:pt x="1152241" y="229348"/>
                    <a:pt x="1105723" y="275866"/>
                    <a:pt x="1048341" y="275866"/>
                  </a:cubicBezTo>
                  <a:lnTo>
                    <a:pt x="103900" y="275866"/>
                  </a:lnTo>
                  <a:cubicBezTo>
                    <a:pt x="76344" y="275866"/>
                    <a:pt x="49917" y="264919"/>
                    <a:pt x="30432" y="245434"/>
                  </a:cubicBezTo>
                  <a:cubicBezTo>
                    <a:pt x="10947" y="225949"/>
                    <a:pt x="0" y="199522"/>
                    <a:pt x="0" y="171966"/>
                  </a:cubicBezTo>
                  <a:lnTo>
                    <a:pt x="0" y="103900"/>
                  </a:lnTo>
                  <a:cubicBezTo>
                    <a:pt x="0" y="46518"/>
                    <a:pt x="46518" y="0"/>
                    <a:pt x="103900" y="0"/>
                  </a:cubicBezTo>
                  <a:close/>
                </a:path>
              </a:pathLst>
            </a:custGeom>
            <a:solidFill>
              <a:srgbClr val="000000">
                <a:alpha val="0"/>
              </a:srgbClr>
            </a:solidFill>
            <a:ln w="38100" cap="rnd">
              <a:solidFill>
                <a:srgbClr val="E0CA27"/>
              </a:solidFill>
              <a:prstDash val="solid"/>
              <a:round/>
            </a:ln>
          </p:spPr>
        </p:sp>
        <p:sp>
          <p:nvSpPr>
            <p:cNvPr name="TextBox 7" id="7"/>
            <p:cNvSpPr txBox="true"/>
            <p:nvPr/>
          </p:nvSpPr>
          <p:spPr>
            <a:xfrm>
              <a:off x="0" y="-133350"/>
              <a:ext cx="1152241" cy="409216"/>
            </a:xfrm>
            <a:prstGeom prst="rect">
              <a:avLst/>
            </a:prstGeom>
          </p:spPr>
          <p:txBody>
            <a:bodyPr anchor="ctr" rtlCol="false" tIns="50800" lIns="50800" bIns="50800" rIns="50800"/>
            <a:lstStyle/>
            <a:p>
              <a:pPr algn="ctr">
                <a:lnSpc>
                  <a:spcPts val="4199"/>
                </a:lnSpc>
              </a:pPr>
              <a:r>
                <a:rPr lang="en-US" sz="2999">
                  <a:solidFill>
                    <a:srgbClr val="E0CA27"/>
                  </a:solidFill>
                  <a:latin typeface="Agrandir Wide"/>
                  <a:ea typeface="Agrandir Wide"/>
                  <a:cs typeface="Agrandir Wide"/>
                  <a:sym typeface="Agrandir Wide"/>
                </a:rPr>
                <a:t>Analytics</a:t>
              </a:r>
            </a:p>
          </p:txBody>
        </p:sp>
      </p:grpSp>
      <p:sp>
        <p:nvSpPr>
          <p:cNvPr name="Freeform 8" id="8"/>
          <p:cNvSpPr/>
          <p:nvPr/>
        </p:nvSpPr>
        <p:spPr>
          <a:xfrm flipH="false" flipV="false" rot="0">
            <a:off x="494523" y="3297921"/>
            <a:ext cx="12665042" cy="6728304"/>
          </a:xfrm>
          <a:custGeom>
            <a:avLst/>
            <a:gdLst/>
            <a:ahLst/>
            <a:cxnLst/>
            <a:rect r="r" b="b" t="t" l="l"/>
            <a:pathLst>
              <a:path h="6728304" w="12665042">
                <a:moveTo>
                  <a:pt x="0" y="0"/>
                </a:moveTo>
                <a:lnTo>
                  <a:pt x="12665042" y="0"/>
                </a:lnTo>
                <a:lnTo>
                  <a:pt x="12665042" y="6728304"/>
                </a:lnTo>
                <a:lnTo>
                  <a:pt x="0" y="6728304"/>
                </a:lnTo>
                <a:lnTo>
                  <a:pt x="0" y="0"/>
                </a:lnTo>
                <a:close/>
              </a:path>
            </a:pathLst>
          </a:custGeom>
          <a:blipFill>
            <a:blip r:embed="rId2"/>
            <a:stretch>
              <a:fillRect l="0" t="0" r="0" b="0"/>
            </a:stretch>
          </a:blipFill>
        </p:spPr>
      </p:sp>
      <p:sp>
        <p:nvSpPr>
          <p:cNvPr name="TextBox 9" id="9"/>
          <p:cNvSpPr txBox="true"/>
          <p:nvPr/>
        </p:nvSpPr>
        <p:spPr>
          <a:xfrm rot="0">
            <a:off x="0" y="264710"/>
            <a:ext cx="12709252" cy="985634"/>
          </a:xfrm>
          <a:prstGeom prst="rect">
            <a:avLst/>
          </a:prstGeom>
        </p:spPr>
        <p:txBody>
          <a:bodyPr anchor="t" rtlCol="false" tIns="0" lIns="0" bIns="0" rIns="0">
            <a:spAutoFit/>
          </a:bodyPr>
          <a:lstStyle/>
          <a:p>
            <a:pPr algn="l" marL="1208673" indent="-604336" lvl="1">
              <a:lnSpc>
                <a:spcPts val="6382"/>
              </a:lnSpc>
              <a:buFont typeface="Arial"/>
              <a:buChar char="•"/>
            </a:pPr>
            <a:r>
              <a:rPr lang="en-US" sz="5598">
                <a:solidFill>
                  <a:srgbClr val="000000"/>
                </a:solidFill>
                <a:latin typeface="Agrandir Wide"/>
                <a:ea typeface="Agrandir Wide"/>
                <a:cs typeface="Agrandir Wide"/>
                <a:sym typeface="Agrandir Wide"/>
              </a:rPr>
              <a:t>Hashtag Research</a:t>
            </a:r>
          </a:p>
        </p:txBody>
      </p:sp>
      <p:sp>
        <p:nvSpPr>
          <p:cNvPr name="TextBox 10" id="10"/>
          <p:cNvSpPr txBox="true"/>
          <p:nvPr/>
        </p:nvSpPr>
        <p:spPr>
          <a:xfrm rot="0">
            <a:off x="494523" y="1272080"/>
            <a:ext cx="16916429" cy="1675637"/>
          </a:xfrm>
          <a:prstGeom prst="rect">
            <a:avLst/>
          </a:prstGeom>
        </p:spPr>
        <p:txBody>
          <a:bodyPr anchor="t" rtlCol="false" tIns="0" lIns="0" bIns="0" rIns="0">
            <a:spAutoFit/>
          </a:bodyPr>
          <a:lstStyle/>
          <a:p>
            <a:pPr algn="l">
              <a:lnSpc>
                <a:spcPts val="4242"/>
              </a:lnSpc>
            </a:pPr>
            <a:r>
              <a:rPr lang="en-US" sz="3030">
                <a:solidFill>
                  <a:srgbClr val="000000"/>
                </a:solidFill>
                <a:latin typeface="Agrandir Wide"/>
                <a:ea typeface="Agrandir Wide"/>
                <a:cs typeface="Agrandir Wide"/>
                <a:sym typeface="Agrandir Wide"/>
              </a:rPr>
              <a:t>A partner brand wants to know the most popular hashtags to use in their posts to reach the most people. So, team want to know the top five most commonly used hashtags on the platform.</a:t>
            </a:r>
          </a:p>
        </p:txBody>
      </p:sp>
      <p:sp>
        <p:nvSpPr>
          <p:cNvPr name="TextBox 11" id="11"/>
          <p:cNvSpPr txBox="true"/>
          <p:nvPr/>
        </p:nvSpPr>
        <p:spPr>
          <a:xfrm rot="0">
            <a:off x="13725135" y="3052126"/>
            <a:ext cx="3278510" cy="3550594"/>
          </a:xfrm>
          <a:prstGeom prst="rect">
            <a:avLst/>
          </a:prstGeom>
        </p:spPr>
        <p:txBody>
          <a:bodyPr anchor="t" rtlCol="false" tIns="0" lIns="0" bIns="0" rIns="0">
            <a:spAutoFit/>
          </a:bodyPr>
          <a:lstStyle/>
          <a:p>
            <a:pPr algn="l">
              <a:lnSpc>
                <a:spcPts val="4559"/>
              </a:lnSpc>
            </a:pPr>
            <a:r>
              <a:rPr lang="en-US" sz="4034" i="true">
                <a:solidFill>
                  <a:srgbClr val="E0CA27"/>
                </a:solidFill>
                <a:latin typeface="Agrandir Wide Italics"/>
                <a:ea typeface="Agrandir Wide Italics"/>
                <a:cs typeface="Agrandir Wide Italics"/>
                <a:sym typeface="Agrandir Wide Italics"/>
              </a:rPr>
              <a:t>Here’s the top five most used hashtags on the Instagram.</a:t>
            </a:r>
          </a:p>
        </p:txBody>
      </p:sp>
    </p:spTree>
  </p:cSld>
  <p:clrMapOvr>
    <a:masterClrMapping/>
  </p:clrMapOvr>
  <p:transition spd="slow">
    <p:push dir="l"/>
  </p:transition>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4F0E9"/>
        </a:solidFill>
      </p:bgPr>
    </p:bg>
    <p:spTree>
      <p:nvGrpSpPr>
        <p:cNvPr id="1" name=""/>
        <p:cNvGrpSpPr/>
        <p:nvPr/>
      </p:nvGrpSpPr>
      <p:grpSpPr>
        <a:xfrm>
          <a:off x="0" y="0"/>
          <a:ext cx="0" cy="0"/>
          <a:chOff x="0" y="0"/>
          <a:chExt cx="0" cy="0"/>
        </a:xfrm>
      </p:grpSpPr>
      <p:grpSp>
        <p:nvGrpSpPr>
          <p:cNvPr name="Group 2" id="2"/>
          <p:cNvGrpSpPr/>
          <p:nvPr/>
        </p:nvGrpSpPr>
        <p:grpSpPr>
          <a:xfrm rot="0">
            <a:off x="15107252" y="7956192"/>
            <a:ext cx="2680669" cy="909824"/>
            <a:chOff x="0" y="0"/>
            <a:chExt cx="812800" cy="275866"/>
          </a:xfrm>
        </p:grpSpPr>
        <p:sp>
          <p:nvSpPr>
            <p:cNvPr name="Freeform 3" id="3"/>
            <p:cNvSpPr/>
            <p:nvPr/>
          </p:nvSpPr>
          <p:spPr>
            <a:xfrm flipH="false" flipV="false" rot="0">
              <a:off x="0" y="0"/>
              <a:ext cx="812800" cy="275866"/>
            </a:xfrm>
            <a:custGeom>
              <a:avLst/>
              <a:gdLst/>
              <a:ahLst/>
              <a:cxnLst/>
              <a:rect r="r" b="b" t="t" l="l"/>
              <a:pathLst>
                <a:path h="275866" w="812800">
                  <a:moveTo>
                    <a:pt x="137933" y="0"/>
                  </a:moveTo>
                  <a:lnTo>
                    <a:pt x="674867" y="0"/>
                  </a:lnTo>
                  <a:cubicBezTo>
                    <a:pt x="711449" y="0"/>
                    <a:pt x="746533" y="14532"/>
                    <a:pt x="772400" y="40400"/>
                  </a:cubicBezTo>
                  <a:cubicBezTo>
                    <a:pt x="798268" y="66267"/>
                    <a:pt x="812800" y="101351"/>
                    <a:pt x="812800" y="137933"/>
                  </a:cubicBezTo>
                  <a:lnTo>
                    <a:pt x="812800" y="137933"/>
                  </a:lnTo>
                  <a:cubicBezTo>
                    <a:pt x="812800" y="214111"/>
                    <a:pt x="751045" y="275866"/>
                    <a:pt x="674867" y="275866"/>
                  </a:cubicBezTo>
                  <a:lnTo>
                    <a:pt x="137933" y="275866"/>
                  </a:lnTo>
                  <a:cubicBezTo>
                    <a:pt x="101351" y="275866"/>
                    <a:pt x="66267" y="261334"/>
                    <a:pt x="40400" y="235466"/>
                  </a:cubicBezTo>
                  <a:cubicBezTo>
                    <a:pt x="14532" y="209599"/>
                    <a:pt x="0" y="174515"/>
                    <a:pt x="0" y="137933"/>
                  </a:cubicBezTo>
                  <a:lnTo>
                    <a:pt x="0" y="137933"/>
                  </a:lnTo>
                  <a:cubicBezTo>
                    <a:pt x="0" y="101351"/>
                    <a:pt x="14532" y="66267"/>
                    <a:pt x="40400" y="40400"/>
                  </a:cubicBezTo>
                  <a:cubicBezTo>
                    <a:pt x="66267" y="14532"/>
                    <a:pt x="101351" y="0"/>
                    <a:pt x="137933" y="0"/>
                  </a:cubicBezTo>
                  <a:close/>
                </a:path>
              </a:pathLst>
            </a:custGeom>
            <a:solidFill>
              <a:srgbClr val="000000">
                <a:alpha val="0"/>
              </a:srgbClr>
            </a:solidFill>
            <a:ln w="38100" cap="rnd">
              <a:solidFill>
                <a:srgbClr val="2145B2"/>
              </a:solidFill>
              <a:prstDash val="solid"/>
              <a:round/>
            </a:ln>
          </p:spPr>
        </p:sp>
        <p:sp>
          <p:nvSpPr>
            <p:cNvPr name="TextBox 4" id="4"/>
            <p:cNvSpPr txBox="true"/>
            <p:nvPr/>
          </p:nvSpPr>
          <p:spPr>
            <a:xfrm>
              <a:off x="0" y="-133350"/>
              <a:ext cx="812800" cy="409216"/>
            </a:xfrm>
            <a:prstGeom prst="rect">
              <a:avLst/>
            </a:prstGeom>
          </p:spPr>
          <p:txBody>
            <a:bodyPr anchor="ctr" rtlCol="false" tIns="50800" lIns="50800" bIns="50800" rIns="50800"/>
            <a:lstStyle/>
            <a:p>
              <a:pPr algn="ctr">
                <a:lnSpc>
                  <a:spcPts val="4199"/>
                </a:lnSpc>
              </a:pPr>
              <a:r>
                <a:rPr lang="en-US" sz="2999">
                  <a:solidFill>
                    <a:srgbClr val="2145B2"/>
                  </a:solidFill>
                  <a:latin typeface="Agrandir Wide"/>
                  <a:ea typeface="Agrandir Wide"/>
                  <a:cs typeface="Agrandir Wide"/>
                  <a:sym typeface="Agrandir Wide"/>
                </a:rPr>
                <a:t>Data</a:t>
              </a:r>
            </a:p>
          </p:txBody>
        </p:sp>
      </p:grpSp>
      <p:grpSp>
        <p:nvGrpSpPr>
          <p:cNvPr name="Group 5" id="5"/>
          <p:cNvGrpSpPr/>
          <p:nvPr/>
        </p:nvGrpSpPr>
        <p:grpSpPr>
          <a:xfrm rot="0">
            <a:off x="14066856" y="9116400"/>
            <a:ext cx="3800169" cy="909824"/>
            <a:chOff x="0" y="0"/>
            <a:chExt cx="1152241" cy="275866"/>
          </a:xfrm>
        </p:grpSpPr>
        <p:sp>
          <p:nvSpPr>
            <p:cNvPr name="Freeform 6" id="6"/>
            <p:cNvSpPr/>
            <p:nvPr/>
          </p:nvSpPr>
          <p:spPr>
            <a:xfrm flipH="false" flipV="false" rot="0">
              <a:off x="0" y="0"/>
              <a:ext cx="1152241" cy="275866"/>
            </a:xfrm>
            <a:custGeom>
              <a:avLst/>
              <a:gdLst/>
              <a:ahLst/>
              <a:cxnLst/>
              <a:rect r="r" b="b" t="t" l="l"/>
              <a:pathLst>
                <a:path h="275866" w="1152241">
                  <a:moveTo>
                    <a:pt x="103900" y="0"/>
                  </a:moveTo>
                  <a:lnTo>
                    <a:pt x="1048341" y="0"/>
                  </a:lnTo>
                  <a:cubicBezTo>
                    <a:pt x="1105723" y="0"/>
                    <a:pt x="1152241" y="46518"/>
                    <a:pt x="1152241" y="103900"/>
                  </a:cubicBezTo>
                  <a:lnTo>
                    <a:pt x="1152241" y="171966"/>
                  </a:lnTo>
                  <a:cubicBezTo>
                    <a:pt x="1152241" y="229348"/>
                    <a:pt x="1105723" y="275866"/>
                    <a:pt x="1048341" y="275866"/>
                  </a:cubicBezTo>
                  <a:lnTo>
                    <a:pt x="103900" y="275866"/>
                  </a:lnTo>
                  <a:cubicBezTo>
                    <a:pt x="76344" y="275866"/>
                    <a:pt x="49917" y="264919"/>
                    <a:pt x="30432" y="245434"/>
                  </a:cubicBezTo>
                  <a:cubicBezTo>
                    <a:pt x="10947" y="225949"/>
                    <a:pt x="0" y="199522"/>
                    <a:pt x="0" y="171966"/>
                  </a:cubicBezTo>
                  <a:lnTo>
                    <a:pt x="0" y="103900"/>
                  </a:lnTo>
                  <a:cubicBezTo>
                    <a:pt x="0" y="46518"/>
                    <a:pt x="46518" y="0"/>
                    <a:pt x="103900" y="0"/>
                  </a:cubicBezTo>
                  <a:close/>
                </a:path>
              </a:pathLst>
            </a:custGeom>
            <a:solidFill>
              <a:srgbClr val="000000">
                <a:alpha val="0"/>
              </a:srgbClr>
            </a:solidFill>
            <a:ln w="38100" cap="rnd">
              <a:solidFill>
                <a:srgbClr val="E0CA27"/>
              </a:solidFill>
              <a:prstDash val="solid"/>
              <a:round/>
            </a:ln>
          </p:spPr>
        </p:sp>
        <p:sp>
          <p:nvSpPr>
            <p:cNvPr name="TextBox 7" id="7"/>
            <p:cNvSpPr txBox="true"/>
            <p:nvPr/>
          </p:nvSpPr>
          <p:spPr>
            <a:xfrm>
              <a:off x="0" y="-133350"/>
              <a:ext cx="1152241" cy="409216"/>
            </a:xfrm>
            <a:prstGeom prst="rect">
              <a:avLst/>
            </a:prstGeom>
          </p:spPr>
          <p:txBody>
            <a:bodyPr anchor="ctr" rtlCol="false" tIns="50800" lIns="50800" bIns="50800" rIns="50800"/>
            <a:lstStyle/>
            <a:p>
              <a:pPr algn="ctr">
                <a:lnSpc>
                  <a:spcPts val="4199"/>
                </a:lnSpc>
              </a:pPr>
              <a:r>
                <a:rPr lang="en-US" sz="2999">
                  <a:solidFill>
                    <a:srgbClr val="E0CA27"/>
                  </a:solidFill>
                  <a:latin typeface="Agrandir Wide"/>
                  <a:ea typeface="Agrandir Wide"/>
                  <a:cs typeface="Agrandir Wide"/>
                  <a:sym typeface="Agrandir Wide"/>
                </a:rPr>
                <a:t>Analytics</a:t>
              </a:r>
            </a:p>
          </p:txBody>
        </p:sp>
      </p:grpSp>
      <p:sp>
        <p:nvSpPr>
          <p:cNvPr name="Freeform 8" id="8"/>
          <p:cNvSpPr/>
          <p:nvPr/>
        </p:nvSpPr>
        <p:spPr>
          <a:xfrm flipH="false" flipV="false" rot="0">
            <a:off x="494523" y="3137851"/>
            <a:ext cx="12600917" cy="6694237"/>
          </a:xfrm>
          <a:custGeom>
            <a:avLst/>
            <a:gdLst/>
            <a:ahLst/>
            <a:cxnLst/>
            <a:rect r="r" b="b" t="t" l="l"/>
            <a:pathLst>
              <a:path h="6694237" w="12600917">
                <a:moveTo>
                  <a:pt x="0" y="0"/>
                </a:moveTo>
                <a:lnTo>
                  <a:pt x="12600917" y="0"/>
                </a:lnTo>
                <a:lnTo>
                  <a:pt x="12600917" y="6694237"/>
                </a:lnTo>
                <a:lnTo>
                  <a:pt x="0" y="6694237"/>
                </a:lnTo>
                <a:lnTo>
                  <a:pt x="0" y="0"/>
                </a:lnTo>
                <a:close/>
              </a:path>
            </a:pathLst>
          </a:custGeom>
          <a:blipFill>
            <a:blip r:embed="rId2"/>
            <a:stretch>
              <a:fillRect l="0" t="0" r="0" b="0"/>
            </a:stretch>
          </a:blipFill>
        </p:spPr>
      </p:sp>
      <p:sp>
        <p:nvSpPr>
          <p:cNvPr name="TextBox 9" id="9"/>
          <p:cNvSpPr txBox="true"/>
          <p:nvPr/>
        </p:nvSpPr>
        <p:spPr>
          <a:xfrm rot="0">
            <a:off x="0" y="264710"/>
            <a:ext cx="12709252" cy="985634"/>
          </a:xfrm>
          <a:prstGeom prst="rect">
            <a:avLst/>
          </a:prstGeom>
        </p:spPr>
        <p:txBody>
          <a:bodyPr anchor="t" rtlCol="false" tIns="0" lIns="0" bIns="0" rIns="0">
            <a:spAutoFit/>
          </a:bodyPr>
          <a:lstStyle/>
          <a:p>
            <a:pPr algn="l" marL="1208673" indent="-604336" lvl="1">
              <a:lnSpc>
                <a:spcPts val="6382"/>
              </a:lnSpc>
              <a:buFont typeface="Arial"/>
              <a:buChar char="•"/>
            </a:pPr>
            <a:r>
              <a:rPr lang="en-US" sz="5598">
                <a:solidFill>
                  <a:srgbClr val="000000"/>
                </a:solidFill>
                <a:latin typeface="Agrandir Wide"/>
                <a:ea typeface="Agrandir Wide"/>
                <a:cs typeface="Agrandir Wide"/>
                <a:sym typeface="Agrandir Wide"/>
              </a:rPr>
              <a:t>Ad Campaign Launch</a:t>
            </a:r>
          </a:p>
        </p:txBody>
      </p:sp>
      <p:sp>
        <p:nvSpPr>
          <p:cNvPr name="TextBox 10" id="10"/>
          <p:cNvSpPr txBox="true"/>
          <p:nvPr/>
        </p:nvSpPr>
        <p:spPr>
          <a:xfrm rot="0">
            <a:off x="494523" y="1272080"/>
            <a:ext cx="16916429" cy="3275837"/>
          </a:xfrm>
          <a:prstGeom prst="rect">
            <a:avLst/>
          </a:prstGeom>
        </p:spPr>
        <p:txBody>
          <a:bodyPr anchor="t" rtlCol="false" tIns="0" lIns="0" bIns="0" rIns="0">
            <a:spAutoFit/>
          </a:bodyPr>
          <a:lstStyle/>
          <a:p>
            <a:pPr algn="l">
              <a:lnSpc>
                <a:spcPts val="4242"/>
              </a:lnSpc>
            </a:pPr>
            <a:r>
              <a:rPr lang="en-US" sz="3030">
                <a:solidFill>
                  <a:srgbClr val="000000"/>
                </a:solidFill>
                <a:latin typeface="Agrandir Wide"/>
                <a:ea typeface="Agrandir Wide"/>
                <a:cs typeface="Agrandir Wide"/>
                <a:sym typeface="Agrandir Wide"/>
              </a:rPr>
              <a:t>The team wants to know the best day of the week to launch ads. So. they wants to know the day of the week when most users register on Instagram for scheduling the ad campaign.</a:t>
            </a:r>
          </a:p>
          <a:p>
            <a:pPr algn="l">
              <a:lnSpc>
                <a:spcPts val="4242"/>
              </a:lnSpc>
            </a:pPr>
          </a:p>
          <a:p>
            <a:pPr algn="l">
              <a:lnSpc>
                <a:spcPts val="4242"/>
              </a:lnSpc>
            </a:pPr>
          </a:p>
          <a:p>
            <a:pPr algn="l">
              <a:lnSpc>
                <a:spcPts val="4242"/>
              </a:lnSpc>
            </a:pPr>
          </a:p>
        </p:txBody>
      </p:sp>
      <p:sp>
        <p:nvSpPr>
          <p:cNvPr name="TextBox 11" id="11"/>
          <p:cNvSpPr txBox="true"/>
          <p:nvPr/>
        </p:nvSpPr>
        <p:spPr>
          <a:xfrm rot="0">
            <a:off x="13725135" y="3052126"/>
            <a:ext cx="3278510" cy="4122094"/>
          </a:xfrm>
          <a:prstGeom prst="rect">
            <a:avLst/>
          </a:prstGeom>
        </p:spPr>
        <p:txBody>
          <a:bodyPr anchor="t" rtlCol="false" tIns="0" lIns="0" bIns="0" rIns="0">
            <a:spAutoFit/>
          </a:bodyPr>
          <a:lstStyle/>
          <a:p>
            <a:pPr algn="l">
              <a:lnSpc>
                <a:spcPts val="4559"/>
              </a:lnSpc>
            </a:pPr>
            <a:r>
              <a:rPr lang="en-US" sz="4034" i="true">
                <a:solidFill>
                  <a:srgbClr val="E0CA27"/>
                </a:solidFill>
                <a:latin typeface="Agrandir Wide Italics"/>
                <a:ea typeface="Agrandir Wide Italics"/>
                <a:cs typeface="Agrandir Wide Italics"/>
                <a:sym typeface="Agrandir Wide Italics"/>
              </a:rPr>
              <a:t>The day on which most number of users registered on the Instagram.</a:t>
            </a:r>
          </a:p>
        </p:txBody>
      </p:sp>
    </p:spTree>
  </p:cSld>
  <p:clrMapOvr>
    <a:masterClrMapping/>
  </p:clrMapOvr>
  <p:transition spd="slow">
    <p:push dir="l"/>
  </p:transition>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4F0E9"/>
        </a:solidFill>
      </p:bgPr>
    </p:bg>
    <p:spTree>
      <p:nvGrpSpPr>
        <p:cNvPr id="1" name=""/>
        <p:cNvGrpSpPr/>
        <p:nvPr/>
      </p:nvGrpSpPr>
      <p:grpSpPr>
        <a:xfrm>
          <a:off x="0" y="0"/>
          <a:ext cx="0" cy="0"/>
          <a:chOff x="0" y="0"/>
          <a:chExt cx="0" cy="0"/>
        </a:xfrm>
      </p:grpSpPr>
      <p:sp>
        <p:nvSpPr>
          <p:cNvPr name="Freeform 2" id="2"/>
          <p:cNvSpPr/>
          <p:nvPr/>
        </p:nvSpPr>
        <p:spPr>
          <a:xfrm flipH="false" flipV="false" rot="0">
            <a:off x="11793932" y="333024"/>
            <a:ext cx="6013237" cy="5930555"/>
          </a:xfrm>
          <a:custGeom>
            <a:avLst/>
            <a:gdLst/>
            <a:ahLst/>
            <a:cxnLst/>
            <a:rect r="r" b="b" t="t" l="l"/>
            <a:pathLst>
              <a:path h="5930555" w="6013237">
                <a:moveTo>
                  <a:pt x="0" y="0"/>
                </a:moveTo>
                <a:lnTo>
                  <a:pt x="6013237" y="0"/>
                </a:lnTo>
                <a:lnTo>
                  <a:pt x="6013237" y="5930556"/>
                </a:lnTo>
                <a:lnTo>
                  <a:pt x="0" y="59305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780586" y="653612"/>
            <a:ext cx="12189098" cy="2313038"/>
          </a:xfrm>
          <a:prstGeom prst="rect">
            <a:avLst/>
          </a:prstGeom>
        </p:spPr>
        <p:txBody>
          <a:bodyPr anchor="t" rtlCol="false" tIns="0" lIns="0" bIns="0" rIns="0">
            <a:spAutoFit/>
          </a:bodyPr>
          <a:lstStyle/>
          <a:p>
            <a:pPr algn="l">
              <a:lnSpc>
                <a:spcPts val="8092"/>
              </a:lnSpc>
            </a:pPr>
            <a:r>
              <a:rPr lang="en-US" sz="7098">
                <a:solidFill>
                  <a:srgbClr val="000000"/>
                </a:solidFill>
                <a:latin typeface="Agrandir Wide"/>
                <a:ea typeface="Agrandir Wide"/>
                <a:cs typeface="Agrandir Wide"/>
                <a:sym typeface="Agrandir Wide"/>
              </a:rPr>
              <a:t>03 - Investor Metrics</a:t>
            </a:r>
          </a:p>
          <a:p>
            <a:pPr algn="l">
              <a:lnSpc>
                <a:spcPts val="8548"/>
              </a:lnSpc>
            </a:pPr>
          </a:p>
        </p:txBody>
      </p:sp>
      <p:sp>
        <p:nvSpPr>
          <p:cNvPr name="TextBox 4" id="4"/>
          <p:cNvSpPr txBox="true"/>
          <p:nvPr/>
        </p:nvSpPr>
        <p:spPr>
          <a:xfrm rot="0">
            <a:off x="1101658" y="2491638"/>
            <a:ext cx="8042342" cy="1767303"/>
          </a:xfrm>
          <a:prstGeom prst="rect">
            <a:avLst/>
          </a:prstGeom>
        </p:spPr>
        <p:txBody>
          <a:bodyPr anchor="t" rtlCol="false" tIns="0" lIns="0" bIns="0" rIns="0">
            <a:spAutoFit/>
          </a:bodyPr>
          <a:lstStyle/>
          <a:p>
            <a:pPr algn="l" marL="684653" indent="-342326" lvl="1">
              <a:lnSpc>
                <a:spcPts val="4439"/>
              </a:lnSpc>
              <a:buFont typeface="Arial"/>
              <a:buChar char="•"/>
            </a:pPr>
            <a:r>
              <a:rPr lang="en-US" sz="3171">
                <a:solidFill>
                  <a:srgbClr val="000000"/>
                </a:solidFill>
                <a:latin typeface="Agrandir Wide"/>
                <a:ea typeface="Agrandir Wide"/>
                <a:cs typeface="Agrandir Wide"/>
                <a:sym typeface="Agrandir Wide"/>
              </a:rPr>
              <a:t>User Engagement.</a:t>
            </a:r>
          </a:p>
          <a:p>
            <a:pPr algn="l">
              <a:lnSpc>
                <a:spcPts val="4439"/>
              </a:lnSpc>
            </a:pPr>
          </a:p>
          <a:p>
            <a:pPr algn="l" marL="684653" indent="-342326" lvl="1">
              <a:lnSpc>
                <a:spcPts val="4439"/>
              </a:lnSpc>
              <a:buFont typeface="Arial"/>
              <a:buChar char="•"/>
            </a:pPr>
            <a:r>
              <a:rPr lang="en-US" sz="3171">
                <a:solidFill>
                  <a:srgbClr val="000000"/>
                </a:solidFill>
                <a:latin typeface="Agrandir Wide"/>
                <a:ea typeface="Agrandir Wide"/>
                <a:cs typeface="Agrandir Wide"/>
                <a:sym typeface="Agrandir Wide"/>
              </a:rPr>
              <a:t>Bots &amp; Fake Accounts.</a:t>
            </a:r>
          </a:p>
        </p:txBody>
      </p:sp>
      <p:sp>
        <p:nvSpPr>
          <p:cNvPr name="TextBox 5" id="5"/>
          <p:cNvSpPr txBox="true"/>
          <p:nvPr/>
        </p:nvSpPr>
        <p:spPr>
          <a:xfrm rot="0">
            <a:off x="10220624" y="6432403"/>
            <a:ext cx="7586545" cy="3392628"/>
          </a:xfrm>
          <a:prstGeom prst="rect">
            <a:avLst/>
          </a:prstGeom>
        </p:spPr>
        <p:txBody>
          <a:bodyPr anchor="t" rtlCol="false" tIns="0" lIns="0" bIns="0" rIns="0">
            <a:spAutoFit/>
          </a:bodyPr>
          <a:lstStyle/>
          <a:p>
            <a:pPr algn="r">
              <a:lnSpc>
                <a:spcPts val="6357"/>
              </a:lnSpc>
            </a:pPr>
            <a:r>
              <a:rPr lang="en-US" sz="5626" i="true">
                <a:solidFill>
                  <a:srgbClr val="E0CA27"/>
                </a:solidFill>
                <a:latin typeface="Agrandir Wide Italics"/>
                <a:ea typeface="Agrandir Wide Italics"/>
                <a:cs typeface="Agrandir Wide Italics"/>
                <a:sym typeface="Agrandir Wide Italics"/>
              </a:rPr>
              <a:t>Data analysis allows for identifying trends and patterns within datasets.</a:t>
            </a:r>
          </a:p>
        </p:txBody>
      </p:sp>
    </p:spTree>
  </p:cSld>
  <p:clrMapOvr>
    <a:masterClrMapping/>
  </p:clrMapOvr>
  <p:transition spd="slow">
    <p:push dir="l"/>
  </p:transition>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4F0E9"/>
        </a:solidFill>
      </p:bgPr>
    </p:bg>
    <p:spTree>
      <p:nvGrpSpPr>
        <p:cNvPr id="1" name=""/>
        <p:cNvGrpSpPr/>
        <p:nvPr/>
      </p:nvGrpSpPr>
      <p:grpSpPr>
        <a:xfrm>
          <a:off x="0" y="0"/>
          <a:ext cx="0" cy="0"/>
          <a:chOff x="0" y="0"/>
          <a:chExt cx="0" cy="0"/>
        </a:xfrm>
      </p:grpSpPr>
      <p:grpSp>
        <p:nvGrpSpPr>
          <p:cNvPr name="Group 2" id="2"/>
          <p:cNvGrpSpPr/>
          <p:nvPr/>
        </p:nvGrpSpPr>
        <p:grpSpPr>
          <a:xfrm rot="0">
            <a:off x="14852073" y="7761160"/>
            <a:ext cx="3086100" cy="1047428"/>
            <a:chOff x="0" y="0"/>
            <a:chExt cx="812800" cy="275866"/>
          </a:xfrm>
        </p:grpSpPr>
        <p:sp>
          <p:nvSpPr>
            <p:cNvPr name="Freeform 3" id="3"/>
            <p:cNvSpPr/>
            <p:nvPr/>
          </p:nvSpPr>
          <p:spPr>
            <a:xfrm flipH="false" flipV="false" rot="0">
              <a:off x="0" y="0"/>
              <a:ext cx="812800" cy="275866"/>
            </a:xfrm>
            <a:custGeom>
              <a:avLst/>
              <a:gdLst/>
              <a:ahLst/>
              <a:cxnLst/>
              <a:rect r="r" b="b" t="t" l="l"/>
              <a:pathLst>
                <a:path h="275866" w="812800">
                  <a:moveTo>
                    <a:pt x="127941" y="0"/>
                  </a:moveTo>
                  <a:lnTo>
                    <a:pt x="684859" y="0"/>
                  </a:lnTo>
                  <a:cubicBezTo>
                    <a:pt x="718791" y="0"/>
                    <a:pt x="751333" y="13479"/>
                    <a:pt x="775327" y="37473"/>
                  </a:cubicBezTo>
                  <a:cubicBezTo>
                    <a:pt x="799321" y="61467"/>
                    <a:pt x="812800" y="94009"/>
                    <a:pt x="812800" y="127941"/>
                  </a:cubicBezTo>
                  <a:lnTo>
                    <a:pt x="812800" y="147925"/>
                  </a:lnTo>
                  <a:cubicBezTo>
                    <a:pt x="812800" y="181857"/>
                    <a:pt x="799321" y="214399"/>
                    <a:pt x="775327" y="238393"/>
                  </a:cubicBezTo>
                  <a:cubicBezTo>
                    <a:pt x="751333" y="262386"/>
                    <a:pt x="718791" y="275866"/>
                    <a:pt x="684859" y="275866"/>
                  </a:cubicBezTo>
                  <a:lnTo>
                    <a:pt x="127941" y="275866"/>
                  </a:lnTo>
                  <a:cubicBezTo>
                    <a:pt x="94009" y="275866"/>
                    <a:pt x="61467" y="262386"/>
                    <a:pt x="37473" y="238393"/>
                  </a:cubicBezTo>
                  <a:cubicBezTo>
                    <a:pt x="13479" y="214399"/>
                    <a:pt x="0" y="181857"/>
                    <a:pt x="0" y="147925"/>
                  </a:cubicBezTo>
                  <a:lnTo>
                    <a:pt x="0" y="127941"/>
                  </a:lnTo>
                  <a:cubicBezTo>
                    <a:pt x="0" y="94009"/>
                    <a:pt x="13479" y="61467"/>
                    <a:pt x="37473" y="37473"/>
                  </a:cubicBezTo>
                  <a:cubicBezTo>
                    <a:pt x="61467" y="13479"/>
                    <a:pt x="94009" y="0"/>
                    <a:pt x="127941" y="0"/>
                  </a:cubicBezTo>
                  <a:close/>
                </a:path>
              </a:pathLst>
            </a:custGeom>
            <a:solidFill>
              <a:srgbClr val="000000">
                <a:alpha val="0"/>
              </a:srgbClr>
            </a:solidFill>
            <a:ln w="38100" cap="rnd">
              <a:solidFill>
                <a:srgbClr val="2145B2"/>
              </a:solidFill>
              <a:prstDash val="solid"/>
              <a:round/>
            </a:ln>
          </p:spPr>
        </p:sp>
        <p:sp>
          <p:nvSpPr>
            <p:cNvPr name="TextBox 4" id="4"/>
            <p:cNvSpPr txBox="true"/>
            <p:nvPr/>
          </p:nvSpPr>
          <p:spPr>
            <a:xfrm>
              <a:off x="0" y="-180975"/>
              <a:ext cx="812800" cy="456841"/>
            </a:xfrm>
            <a:prstGeom prst="rect">
              <a:avLst/>
            </a:prstGeom>
          </p:spPr>
          <p:txBody>
            <a:bodyPr anchor="ctr" rtlCol="false" tIns="50800" lIns="50800" bIns="50800" rIns="50800"/>
            <a:lstStyle/>
            <a:p>
              <a:pPr algn="ctr">
                <a:lnSpc>
                  <a:spcPts val="5319"/>
                </a:lnSpc>
              </a:pPr>
              <a:r>
                <a:rPr lang="en-US" sz="3799">
                  <a:solidFill>
                    <a:srgbClr val="2145B2"/>
                  </a:solidFill>
                  <a:latin typeface="Agrandir Wide"/>
                  <a:ea typeface="Agrandir Wide"/>
                  <a:cs typeface="Agrandir Wide"/>
                  <a:sym typeface="Agrandir Wide"/>
                </a:rPr>
                <a:t>Data</a:t>
              </a:r>
            </a:p>
          </p:txBody>
        </p:sp>
      </p:grpSp>
      <p:grpSp>
        <p:nvGrpSpPr>
          <p:cNvPr name="Group 5" id="5"/>
          <p:cNvGrpSpPr/>
          <p:nvPr/>
        </p:nvGrpSpPr>
        <p:grpSpPr>
          <a:xfrm rot="0">
            <a:off x="13563257" y="9036466"/>
            <a:ext cx="4374916" cy="1047428"/>
            <a:chOff x="0" y="0"/>
            <a:chExt cx="1152241" cy="275866"/>
          </a:xfrm>
        </p:grpSpPr>
        <p:sp>
          <p:nvSpPr>
            <p:cNvPr name="Freeform 6" id="6"/>
            <p:cNvSpPr/>
            <p:nvPr/>
          </p:nvSpPr>
          <p:spPr>
            <a:xfrm flipH="false" flipV="false" rot="0">
              <a:off x="0" y="0"/>
              <a:ext cx="1152241" cy="275866"/>
            </a:xfrm>
            <a:custGeom>
              <a:avLst/>
              <a:gdLst/>
              <a:ahLst/>
              <a:cxnLst/>
              <a:rect r="r" b="b" t="t" l="l"/>
              <a:pathLst>
                <a:path h="275866" w="1152241">
                  <a:moveTo>
                    <a:pt x="90250" y="0"/>
                  </a:moveTo>
                  <a:lnTo>
                    <a:pt x="1061991" y="0"/>
                  </a:lnTo>
                  <a:cubicBezTo>
                    <a:pt x="1111835" y="0"/>
                    <a:pt x="1152241" y="40406"/>
                    <a:pt x="1152241" y="90250"/>
                  </a:cubicBezTo>
                  <a:lnTo>
                    <a:pt x="1152241" y="185615"/>
                  </a:lnTo>
                  <a:cubicBezTo>
                    <a:pt x="1152241" y="235459"/>
                    <a:pt x="1111835" y="275866"/>
                    <a:pt x="1061991" y="275866"/>
                  </a:cubicBezTo>
                  <a:lnTo>
                    <a:pt x="90250" y="275866"/>
                  </a:lnTo>
                  <a:cubicBezTo>
                    <a:pt x="66315" y="275866"/>
                    <a:pt x="43359" y="266357"/>
                    <a:pt x="26434" y="249432"/>
                  </a:cubicBezTo>
                  <a:cubicBezTo>
                    <a:pt x="9508" y="232507"/>
                    <a:pt x="0" y="209551"/>
                    <a:pt x="0" y="185615"/>
                  </a:cubicBezTo>
                  <a:lnTo>
                    <a:pt x="0" y="90250"/>
                  </a:lnTo>
                  <a:cubicBezTo>
                    <a:pt x="0" y="40406"/>
                    <a:pt x="40406" y="0"/>
                    <a:pt x="90250" y="0"/>
                  </a:cubicBezTo>
                  <a:close/>
                </a:path>
              </a:pathLst>
            </a:custGeom>
            <a:solidFill>
              <a:srgbClr val="000000">
                <a:alpha val="0"/>
              </a:srgbClr>
            </a:solidFill>
            <a:ln w="38100" cap="rnd">
              <a:solidFill>
                <a:srgbClr val="E0CA27"/>
              </a:solidFill>
              <a:prstDash val="solid"/>
              <a:round/>
            </a:ln>
          </p:spPr>
        </p:sp>
        <p:sp>
          <p:nvSpPr>
            <p:cNvPr name="TextBox 7" id="7"/>
            <p:cNvSpPr txBox="true"/>
            <p:nvPr/>
          </p:nvSpPr>
          <p:spPr>
            <a:xfrm>
              <a:off x="0" y="-180975"/>
              <a:ext cx="1152241" cy="456841"/>
            </a:xfrm>
            <a:prstGeom prst="rect">
              <a:avLst/>
            </a:prstGeom>
          </p:spPr>
          <p:txBody>
            <a:bodyPr anchor="ctr" rtlCol="false" tIns="50800" lIns="50800" bIns="50800" rIns="50800"/>
            <a:lstStyle/>
            <a:p>
              <a:pPr algn="ctr">
                <a:lnSpc>
                  <a:spcPts val="5319"/>
                </a:lnSpc>
              </a:pPr>
              <a:r>
                <a:rPr lang="en-US" sz="3799">
                  <a:solidFill>
                    <a:srgbClr val="E0CA27"/>
                  </a:solidFill>
                  <a:latin typeface="Agrandir Wide"/>
                  <a:ea typeface="Agrandir Wide"/>
                  <a:cs typeface="Agrandir Wide"/>
                  <a:sym typeface="Agrandir Wide"/>
                </a:rPr>
                <a:t>Analytics</a:t>
              </a:r>
            </a:p>
          </p:txBody>
        </p:sp>
      </p:grpSp>
      <p:sp>
        <p:nvSpPr>
          <p:cNvPr name="Freeform 8" id="8"/>
          <p:cNvSpPr/>
          <p:nvPr/>
        </p:nvSpPr>
        <p:spPr>
          <a:xfrm flipH="false" flipV="false" rot="0">
            <a:off x="756202" y="3718313"/>
            <a:ext cx="11909766" cy="6365581"/>
          </a:xfrm>
          <a:custGeom>
            <a:avLst/>
            <a:gdLst/>
            <a:ahLst/>
            <a:cxnLst/>
            <a:rect r="r" b="b" t="t" l="l"/>
            <a:pathLst>
              <a:path h="6365581" w="11909766">
                <a:moveTo>
                  <a:pt x="0" y="0"/>
                </a:moveTo>
                <a:lnTo>
                  <a:pt x="11909765" y="0"/>
                </a:lnTo>
                <a:lnTo>
                  <a:pt x="11909765" y="6365581"/>
                </a:lnTo>
                <a:lnTo>
                  <a:pt x="0" y="6365581"/>
                </a:lnTo>
                <a:lnTo>
                  <a:pt x="0" y="0"/>
                </a:lnTo>
                <a:close/>
              </a:path>
            </a:pathLst>
          </a:custGeom>
          <a:blipFill>
            <a:blip r:embed="rId2"/>
            <a:stretch>
              <a:fillRect l="0" t="0" r="-608" b="0"/>
            </a:stretch>
          </a:blipFill>
        </p:spPr>
      </p:sp>
      <p:sp>
        <p:nvSpPr>
          <p:cNvPr name="TextBox 9" id="9"/>
          <p:cNvSpPr txBox="true"/>
          <p:nvPr/>
        </p:nvSpPr>
        <p:spPr>
          <a:xfrm rot="0">
            <a:off x="-267926" y="281499"/>
            <a:ext cx="12189098" cy="985634"/>
          </a:xfrm>
          <a:prstGeom prst="rect">
            <a:avLst/>
          </a:prstGeom>
        </p:spPr>
        <p:txBody>
          <a:bodyPr anchor="t" rtlCol="false" tIns="0" lIns="0" bIns="0" rIns="0">
            <a:spAutoFit/>
          </a:bodyPr>
          <a:lstStyle/>
          <a:p>
            <a:pPr algn="l" marL="1208673" indent="-604336" lvl="1">
              <a:lnSpc>
                <a:spcPts val="6382"/>
              </a:lnSpc>
              <a:buFont typeface="Arial"/>
              <a:buChar char="•"/>
            </a:pPr>
            <a:r>
              <a:rPr lang="en-US" sz="5598">
                <a:solidFill>
                  <a:srgbClr val="000000"/>
                </a:solidFill>
                <a:latin typeface="Agrandir Wide"/>
                <a:ea typeface="Agrandir Wide"/>
                <a:cs typeface="Agrandir Wide"/>
                <a:sym typeface="Agrandir Wide"/>
              </a:rPr>
              <a:t>User Engagement</a:t>
            </a:r>
          </a:p>
        </p:txBody>
      </p:sp>
      <p:sp>
        <p:nvSpPr>
          <p:cNvPr name="TextBox 10" id="10"/>
          <p:cNvSpPr txBox="true"/>
          <p:nvPr/>
        </p:nvSpPr>
        <p:spPr>
          <a:xfrm rot="0">
            <a:off x="540823" y="1389520"/>
            <a:ext cx="17206355" cy="4077498"/>
          </a:xfrm>
          <a:prstGeom prst="rect">
            <a:avLst/>
          </a:prstGeom>
        </p:spPr>
        <p:txBody>
          <a:bodyPr anchor="t" rtlCol="false" tIns="0" lIns="0" bIns="0" rIns="0">
            <a:spAutoFit/>
          </a:bodyPr>
          <a:lstStyle/>
          <a:p>
            <a:pPr algn="l">
              <a:lnSpc>
                <a:spcPts val="4296"/>
              </a:lnSpc>
            </a:pPr>
            <a:r>
              <a:rPr lang="en-US" sz="3068">
                <a:solidFill>
                  <a:srgbClr val="000000"/>
                </a:solidFill>
                <a:latin typeface="Agrandir Wide"/>
                <a:ea typeface="Agrandir Wide"/>
                <a:cs typeface="Agrandir Wide"/>
                <a:sym typeface="Agrandir Wide"/>
              </a:rPr>
              <a:t>Investors want to know if users are still active and posting on Instagram or if they are making fewer posts. So they wants me to calculate the average number of posts per user on Instagram and  also to provide the total number of photos on Instagram divided by the total number of users.</a:t>
            </a:r>
          </a:p>
          <a:p>
            <a:pPr algn="l">
              <a:lnSpc>
                <a:spcPts val="5276"/>
              </a:lnSpc>
            </a:pPr>
          </a:p>
          <a:p>
            <a:pPr algn="l">
              <a:lnSpc>
                <a:spcPts val="5276"/>
              </a:lnSpc>
            </a:pPr>
          </a:p>
          <a:p>
            <a:pPr algn="l">
              <a:lnSpc>
                <a:spcPts val="4016"/>
              </a:lnSpc>
            </a:pPr>
          </a:p>
        </p:txBody>
      </p:sp>
      <p:sp>
        <p:nvSpPr>
          <p:cNvPr name="TextBox 11" id="11"/>
          <p:cNvSpPr txBox="true"/>
          <p:nvPr/>
        </p:nvSpPr>
        <p:spPr>
          <a:xfrm rot="0">
            <a:off x="13392569" y="3632588"/>
            <a:ext cx="3696043" cy="3550390"/>
          </a:xfrm>
          <a:prstGeom prst="rect">
            <a:avLst/>
          </a:prstGeom>
        </p:spPr>
        <p:txBody>
          <a:bodyPr anchor="t" rtlCol="false" tIns="0" lIns="0" bIns="0" rIns="0">
            <a:spAutoFit/>
          </a:bodyPr>
          <a:lstStyle/>
          <a:p>
            <a:pPr algn="l">
              <a:lnSpc>
                <a:spcPts val="4533"/>
              </a:lnSpc>
            </a:pPr>
            <a:r>
              <a:rPr lang="en-US" sz="4011" i="true">
                <a:solidFill>
                  <a:srgbClr val="E0CA27"/>
                </a:solidFill>
                <a:latin typeface="Agrandir Wide Italics"/>
                <a:ea typeface="Agrandir Wide Italics"/>
                <a:cs typeface="Agrandir Wide Italics"/>
                <a:sym typeface="Agrandir Wide Italics"/>
              </a:rPr>
              <a:t>Here’s the average number of posts per user on Instagram</a:t>
            </a:r>
          </a:p>
        </p:txBody>
      </p:sp>
    </p:spTree>
  </p:cSld>
  <p:clrMapOvr>
    <a:masterClrMapping/>
  </p:clrMapOvr>
  <p:transition spd="slow">
    <p:push dir="l"/>
  </p:transition>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4F0E9"/>
        </a:solidFill>
      </p:bgPr>
    </p:bg>
    <p:spTree>
      <p:nvGrpSpPr>
        <p:cNvPr id="1" name=""/>
        <p:cNvGrpSpPr/>
        <p:nvPr/>
      </p:nvGrpSpPr>
      <p:grpSpPr>
        <a:xfrm>
          <a:off x="0" y="0"/>
          <a:ext cx="0" cy="0"/>
          <a:chOff x="0" y="0"/>
          <a:chExt cx="0" cy="0"/>
        </a:xfrm>
      </p:grpSpPr>
      <p:grpSp>
        <p:nvGrpSpPr>
          <p:cNvPr name="Group 2" id="2"/>
          <p:cNvGrpSpPr/>
          <p:nvPr/>
        </p:nvGrpSpPr>
        <p:grpSpPr>
          <a:xfrm rot="0">
            <a:off x="14852073" y="7761160"/>
            <a:ext cx="3086100" cy="1047428"/>
            <a:chOff x="0" y="0"/>
            <a:chExt cx="812800" cy="275866"/>
          </a:xfrm>
        </p:grpSpPr>
        <p:sp>
          <p:nvSpPr>
            <p:cNvPr name="Freeform 3" id="3"/>
            <p:cNvSpPr/>
            <p:nvPr/>
          </p:nvSpPr>
          <p:spPr>
            <a:xfrm flipH="false" flipV="false" rot="0">
              <a:off x="0" y="0"/>
              <a:ext cx="812800" cy="275866"/>
            </a:xfrm>
            <a:custGeom>
              <a:avLst/>
              <a:gdLst/>
              <a:ahLst/>
              <a:cxnLst/>
              <a:rect r="r" b="b" t="t" l="l"/>
              <a:pathLst>
                <a:path h="275866" w="812800">
                  <a:moveTo>
                    <a:pt x="127941" y="0"/>
                  </a:moveTo>
                  <a:lnTo>
                    <a:pt x="684859" y="0"/>
                  </a:lnTo>
                  <a:cubicBezTo>
                    <a:pt x="718791" y="0"/>
                    <a:pt x="751333" y="13479"/>
                    <a:pt x="775327" y="37473"/>
                  </a:cubicBezTo>
                  <a:cubicBezTo>
                    <a:pt x="799321" y="61467"/>
                    <a:pt x="812800" y="94009"/>
                    <a:pt x="812800" y="127941"/>
                  </a:cubicBezTo>
                  <a:lnTo>
                    <a:pt x="812800" y="147925"/>
                  </a:lnTo>
                  <a:cubicBezTo>
                    <a:pt x="812800" y="181857"/>
                    <a:pt x="799321" y="214399"/>
                    <a:pt x="775327" y="238393"/>
                  </a:cubicBezTo>
                  <a:cubicBezTo>
                    <a:pt x="751333" y="262386"/>
                    <a:pt x="718791" y="275866"/>
                    <a:pt x="684859" y="275866"/>
                  </a:cubicBezTo>
                  <a:lnTo>
                    <a:pt x="127941" y="275866"/>
                  </a:lnTo>
                  <a:cubicBezTo>
                    <a:pt x="94009" y="275866"/>
                    <a:pt x="61467" y="262386"/>
                    <a:pt x="37473" y="238393"/>
                  </a:cubicBezTo>
                  <a:cubicBezTo>
                    <a:pt x="13479" y="214399"/>
                    <a:pt x="0" y="181857"/>
                    <a:pt x="0" y="147925"/>
                  </a:cubicBezTo>
                  <a:lnTo>
                    <a:pt x="0" y="127941"/>
                  </a:lnTo>
                  <a:cubicBezTo>
                    <a:pt x="0" y="94009"/>
                    <a:pt x="13479" y="61467"/>
                    <a:pt x="37473" y="37473"/>
                  </a:cubicBezTo>
                  <a:cubicBezTo>
                    <a:pt x="61467" y="13479"/>
                    <a:pt x="94009" y="0"/>
                    <a:pt x="127941" y="0"/>
                  </a:cubicBezTo>
                  <a:close/>
                </a:path>
              </a:pathLst>
            </a:custGeom>
            <a:solidFill>
              <a:srgbClr val="000000">
                <a:alpha val="0"/>
              </a:srgbClr>
            </a:solidFill>
            <a:ln w="38100" cap="rnd">
              <a:solidFill>
                <a:srgbClr val="2145B2"/>
              </a:solidFill>
              <a:prstDash val="solid"/>
              <a:round/>
            </a:ln>
          </p:spPr>
        </p:sp>
        <p:sp>
          <p:nvSpPr>
            <p:cNvPr name="TextBox 4" id="4"/>
            <p:cNvSpPr txBox="true"/>
            <p:nvPr/>
          </p:nvSpPr>
          <p:spPr>
            <a:xfrm>
              <a:off x="0" y="-180975"/>
              <a:ext cx="812800" cy="456841"/>
            </a:xfrm>
            <a:prstGeom prst="rect">
              <a:avLst/>
            </a:prstGeom>
          </p:spPr>
          <p:txBody>
            <a:bodyPr anchor="ctr" rtlCol="false" tIns="50800" lIns="50800" bIns="50800" rIns="50800"/>
            <a:lstStyle/>
            <a:p>
              <a:pPr algn="ctr">
                <a:lnSpc>
                  <a:spcPts val="5319"/>
                </a:lnSpc>
              </a:pPr>
              <a:r>
                <a:rPr lang="en-US" sz="3799">
                  <a:solidFill>
                    <a:srgbClr val="2145B2"/>
                  </a:solidFill>
                  <a:latin typeface="Agrandir Wide"/>
                  <a:ea typeface="Agrandir Wide"/>
                  <a:cs typeface="Agrandir Wide"/>
                  <a:sym typeface="Agrandir Wide"/>
                </a:rPr>
                <a:t>Data</a:t>
              </a:r>
            </a:p>
          </p:txBody>
        </p:sp>
      </p:grpSp>
      <p:grpSp>
        <p:nvGrpSpPr>
          <p:cNvPr name="Group 5" id="5"/>
          <p:cNvGrpSpPr/>
          <p:nvPr/>
        </p:nvGrpSpPr>
        <p:grpSpPr>
          <a:xfrm rot="0">
            <a:off x="13563257" y="9036466"/>
            <a:ext cx="4374916" cy="1047428"/>
            <a:chOff x="0" y="0"/>
            <a:chExt cx="1152241" cy="275866"/>
          </a:xfrm>
        </p:grpSpPr>
        <p:sp>
          <p:nvSpPr>
            <p:cNvPr name="Freeform 6" id="6"/>
            <p:cNvSpPr/>
            <p:nvPr/>
          </p:nvSpPr>
          <p:spPr>
            <a:xfrm flipH="false" flipV="false" rot="0">
              <a:off x="0" y="0"/>
              <a:ext cx="1152241" cy="275866"/>
            </a:xfrm>
            <a:custGeom>
              <a:avLst/>
              <a:gdLst/>
              <a:ahLst/>
              <a:cxnLst/>
              <a:rect r="r" b="b" t="t" l="l"/>
              <a:pathLst>
                <a:path h="275866" w="1152241">
                  <a:moveTo>
                    <a:pt x="90250" y="0"/>
                  </a:moveTo>
                  <a:lnTo>
                    <a:pt x="1061991" y="0"/>
                  </a:lnTo>
                  <a:cubicBezTo>
                    <a:pt x="1111835" y="0"/>
                    <a:pt x="1152241" y="40406"/>
                    <a:pt x="1152241" y="90250"/>
                  </a:cubicBezTo>
                  <a:lnTo>
                    <a:pt x="1152241" y="185615"/>
                  </a:lnTo>
                  <a:cubicBezTo>
                    <a:pt x="1152241" y="235459"/>
                    <a:pt x="1111835" y="275866"/>
                    <a:pt x="1061991" y="275866"/>
                  </a:cubicBezTo>
                  <a:lnTo>
                    <a:pt x="90250" y="275866"/>
                  </a:lnTo>
                  <a:cubicBezTo>
                    <a:pt x="66315" y="275866"/>
                    <a:pt x="43359" y="266357"/>
                    <a:pt x="26434" y="249432"/>
                  </a:cubicBezTo>
                  <a:cubicBezTo>
                    <a:pt x="9508" y="232507"/>
                    <a:pt x="0" y="209551"/>
                    <a:pt x="0" y="185615"/>
                  </a:cubicBezTo>
                  <a:lnTo>
                    <a:pt x="0" y="90250"/>
                  </a:lnTo>
                  <a:cubicBezTo>
                    <a:pt x="0" y="40406"/>
                    <a:pt x="40406" y="0"/>
                    <a:pt x="90250" y="0"/>
                  </a:cubicBezTo>
                  <a:close/>
                </a:path>
              </a:pathLst>
            </a:custGeom>
            <a:solidFill>
              <a:srgbClr val="000000">
                <a:alpha val="0"/>
              </a:srgbClr>
            </a:solidFill>
            <a:ln w="38100" cap="rnd">
              <a:solidFill>
                <a:srgbClr val="E0CA27"/>
              </a:solidFill>
              <a:prstDash val="solid"/>
              <a:round/>
            </a:ln>
          </p:spPr>
        </p:sp>
        <p:sp>
          <p:nvSpPr>
            <p:cNvPr name="TextBox 7" id="7"/>
            <p:cNvSpPr txBox="true"/>
            <p:nvPr/>
          </p:nvSpPr>
          <p:spPr>
            <a:xfrm>
              <a:off x="0" y="-180975"/>
              <a:ext cx="1152241" cy="456841"/>
            </a:xfrm>
            <a:prstGeom prst="rect">
              <a:avLst/>
            </a:prstGeom>
          </p:spPr>
          <p:txBody>
            <a:bodyPr anchor="ctr" rtlCol="false" tIns="50800" lIns="50800" bIns="50800" rIns="50800"/>
            <a:lstStyle/>
            <a:p>
              <a:pPr algn="ctr">
                <a:lnSpc>
                  <a:spcPts val="5319"/>
                </a:lnSpc>
              </a:pPr>
              <a:r>
                <a:rPr lang="en-US" sz="3799">
                  <a:solidFill>
                    <a:srgbClr val="E0CA27"/>
                  </a:solidFill>
                  <a:latin typeface="Agrandir Wide"/>
                  <a:ea typeface="Agrandir Wide"/>
                  <a:cs typeface="Agrandir Wide"/>
                  <a:sym typeface="Agrandir Wide"/>
                </a:rPr>
                <a:t>Analytics</a:t>
              </a:r>
            </a:p>
          </p:txBody>
        </p:sp>
      </p:grpSp>
      <p:sp>
        <p:nvSpPr>
          <p:cNvPr name="Freeform 8" id="8"/>
          <p:cNvSpPr/>
          <p:nvPr/>
        </p:nvSpPr>
        <p:spPr>
          <a:xfrm flipH="false" flipV="false" rot="0">
            <a:off x="513437" y="1887317"/>
            <a:ext cx="12840361" cy="7149149"/>
          </a:xfrm>
          <a:custGeom>
            <a:avLst/>
            <a:gdLst/>
            <a:ahLst/>
            <a:cxnLst/>
            <a:rect r="r" b="b" t="t" l="l"/>
            <a:pathLst>
              <a:path h="7149149" w="12840361">
                <a:moveTo>
                  <a:pt x="0" y="0"/>
                </a:moveTo>
                <a:lnTo>
                  <a:pt x="12840361" y="0"/>
                </a:lnTo>
                <a:lnTo>
                  <a:pt x="12840361" y="7149149"/>
                </a:lnTo>
                <a:lnTo>
                  <a:pt x="0" y="7149149"/>
                </a:lnTo>
                <a:lnTo>
                  <a:pt x="0" y="0"/>
                </a:lnTo>
                <a:close/>
              </a:path>
            </a:pathLst>
          </a:custGeom>
          <a:blipFill>
            <a:blip r:embed="rId2"/>
            <a:stretch>
              <a:fillRect l="-2402" t="0" r="-2402" b="0"/>
            </a:stretch>
          </a:blipFill>
        </p:spPr>
      </p:sp>
      <p:sp>
        <p:nvSpPr>
          <p:cNvPr name="TextBox 9" id="9"/>
          <p:cNvSpPr txBox="true"/>
          <p:nvPr/>
        </p:nvSpPr>
        <p:spPr>
          <a:xfrm rot="0">
            <a:off x="-267926" y="281499"/>
            <a:ext cx="12189098" cy="985634"/>
          </a:xfrm>
          <a:prstGeom prst="rect">
            <a:avLst/>
          </a:prstGeom>
        </p:spPr>
        <p:txBody>
          <a:bodyPr anchor="t" rtlCol="false" tIns="0" lIns="0" bIns="0" rIns="0">
            <a:spAutoFit/>
          </a:bodyPr>
          <a:lstStyle/>
          <a:p>
            <a:pPr algn="l" marL="1208673" indent="-604336" lvl="1">
              <a:lnSpc>
                <a:spcPts val="6382"/>
              </a:lnSpc>
              <a:buFont typeface="Arial"/>
              <a:buChar char="•"/>
            </a:pPr>
            <a:r>
              <a:rPr lang="en-US" sz="5598">
                <a:solidFill>
                  <a:srgbClr val="000000"/>
                </a:solidFill>
                <a:latin typeface="Agrandir Wide"/>
                <a:ea typeface="Agrandir Wide"/>
                <a:cs typeface="Agrandir Wide"/>
                <a:sym typeface="Agrandir Wide"/>
              </a:rPr>
              <a:t>User Engagement</a:t>
            </a:r>
          </a:p>
        </p:txBody>
      </p:sp>
      <p:sp>
        <p:nvSpPr>
          <p:cNvPr name="TextBox 10" id="10"/>
          <p:cNvSpPr txBox="true"/>
          <p:nvPr/>
        </p:nvSpPr>
        <p:spPr>
          <a:xfrm rot="0">
            <a:off x="13902694" y="1801592"/>
            <a:ext cx="3696043" cy="4121890"/>
          </a:xfrm>
          <a:prstGeom prst="rect">
            <a:avLst/>
          </a:prstGeom>
        </p:spPr>
        <p:txBody>
          <a:bodyPr anchor="t" rtlCol="false" tIns="0" lIns="0" bIns="0" rIns="0">
            <a:spAutoFit/>
          </a:bodyPr>
          <a:lstStyle/>
          <a:p>
            <a:pPr algn="l">
              <a:lnSpc>
                <a:spcPts val="4533"/>
              </a:lnSpc>
            </a:pPr>
            <a:r>
              <a:rPr lang="en-US" sz="4011" i="true">
                <a:solidFill>
                  <a:srgbClr val="E0CA27"/>
                </a:solidFill>
                <a:latin typeface="Agrandir Wide Italics"/>
                <a:ea typeface="Agrandir Wide Italics"/>
                <a:cs typeface="Agrandir Wide Italics"/>
                <a:sym typeface="Agrandir Wide Italics"/>
              </a:rPr>
              <a:t>Here’s the total  number of photos on Instagram divided by the total number of users.</a:t>
            </a:r>
          </a:p>
        </p:txBody>
      </p:sp>
    </p:spTree>
  </p:cSld>
  <p:clrMapOvr>
    <a:masterClrMapping/>
  </p:clrMapOvr>
  <p:transition spd="slow">
    <p:push dir="l"/>
  </p:transition>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4F0E9"/>
        </a:solidFill>
      </p:bgPr>
    </p:bg>
    <p:spTree>
      <p:nvGrpSpPr>
        <p:cNvPr id="1" name=""/>
        <p:cNvGrpSpPr/>
        <p:nvPr/>
      </p:nvGrpSpPr>
      <p:grpSpPr>
        <a:xfrm>
          <a:off x="0" y="0"/>
          <a:ext cx="0" cy="0"/>
          <a:chOff x="0" y="0"/>
          <a:chExt cx="0" cy="0"/>
        </a:xfrm>
      </p:grpSpPr>
      <p:grpSp>
        <p:nvGrpSpPr>
          <p:cNvPr name="Group 2" id="2"/>
          <p:cNvGrpSpPr/>
          <p:nvPr/>
        </p:nvGrpSpPr>
        <p:grpSpPr>
          <a:xfrm rot="0">
            <a:off x="14852073" y="7761160"/>
            <a:ext cx="3086100" cy="1047428"/>
            <a:chOff x="0" y="0"/>
            <a:chExt cx="812800" cy="275866"/>
          </a:xfrm>
        </p:grpSpPr>
        <p:sp>
          <p:nvSpPr>
            <p:cNvPr name="Freeform 3" id="3"/>
            <p:cNvSpPr/>
            <p:nvPr/>
          </p:nvSpPr>
          <p:spPr>
            <a:xfrm flipH="false" flipV="false" rot="0">
              <a:off x="0" y="0"/>
              <a:ext cx="812800" cy="275866"/>
            </a:xfrm>
            <a:custGeom>
              <a:avLst/>
              <a:gdLst/>
              <a:ahLst/>
              <a:cxnLst/>
              <a:rect r="r" b="b" t="t" l="l"/>
              <a:pathLst>
                <a:path h="275866" w="812800">
                  <a:moveTo>
                    <a:pt x="127941" y="0"/>
                  </a:moveTo>
                  <a:lnTo>
                    <a:pt x="684859" y="0"/>
                  </a:lnTo>
                  <a:cubicBezTo>
                    <a:pt x="718791" y="0"/>
                    <a:pt x="751333" y="13479"/>
                    <a:pt x="775327" y="37473"/>
                  </a:cubicBezTo>
                  <a:cubicBezTo>
                    <a:pt x="799321" y="61467"/>
                    <a:pt x="812800" y="94009"/>
                    <a:pt x="812800" y="127941"/>
                  </a:cubicBezTo>
                  <a:lnTo>
                    <a:pt x="812800" y="147925"/>
                  </a:lnTo>
                  <a:cubicBezTo>
                    <a:pt x="812800" y="181857"/>
                    <a:pt x="799321" y="214399"/>
                    <a:pt x="775327" y="238393"/>
                  </a:cubicBezTo>
                  <a:cubicBezTo>
                    <a:pt x="751333" y="262386"/>
                    <a:pt x="718791" y="275866"/>
                    <a:pt x="684859" y="275866"/>
                  </a:cubicBezTo>
                  <a:lnTo>
                    <a:pt x="127941" y="275866"/>
                  </a:lnTo>
                  <a:cubicBezTo>
                    <a:pt x="94009" y="275866"/>
                    <a:pt x="61467" y="262386"/>
                    <a:pt x="37473" y="238393"/>
                  </a:cubicBezTo>
                  <a:cubicBezTo>
                    <a:pt x="13479" y="214399"/>
                    <a:pt x="0" y="181857"/>
                    <a:pt x="0" y="147925"/>
                  </a:cubicBezTo>
                  <a:lnTo>
                    <a:pt x="0" y="127941"/>
                  </a:lnTo>
                  <a:cubicBezTo>
                    <a:pt x="0" y="94009"/>
                    <a:pt x="13479" y="61467"/>
                    <a:pt x="37473" y="37473"/>
                  </a:cubicBezTo>
                  <a:cubicBezTo>
                    <a:pt x="61467" y="13479"/>
                    <a:pt x="94009" y="0"/>
                    <a:pt x="127941" y="0"/>
                  </a:cubicBezTo>
                  <a:close/>
                </a:path>
              </a:pathLst>
            </a:custGeom>
            <a:solidFill>
              <a:srgbClr val="000000">
                <a:alpha val="0"/>
              </a:srgbClr>
            </a:solidFill>
            <a:ln w="38100" cap="rnd">
              <a:solidFill>
                <a:srgbClr val="2145B2"/>
              </a:solidFill>
              <a:prstDash val="solid"/>
              <a:round/>
            </a:ln>
          </p:spPr>
        </p:sp>
        <p:sp>
          <p:nvSpPr>
            <p:cNvPr name="TextBox 4" id="4"/>
            <p:cNvSpPr txBox="true"/>
            <p:nvPr/>
          </p:nvSpPr>
          <p:spPr>
            <a:xfrm>
              <a:off x="0" y="-180975"/>
              <a:ext cx="812800" cy="456841"/>
            </a:xfrm>
            <a:prstGeom prst="rect">
              <a:avLst/>
            </a:prstGeom>
          </p:spPr>
          <p:txBody>
            <a:bodyPr anchor="ctr" rtlCol="false" tIns="50800" lIns="50800" bIns="50800" rIns="50800"/>
            <a:lstStyle/>
            <a:p>
              <a:pPr algn="ctr">
                <a:lnSpc>
                  <a:spcPts val="5319"/>
                </a:lnSpc>
              </a:pPr>
              <a:r>
                <a:rPr lang="en-US" sz="3799">
                  <a:solidFill>
                    <a:srgbClr val="2145B2"/>
                  </a:solidFill>
                  <a:latin typeface="Agrandir Wide"/>
                  <a:ea typeface="Agrandir Wide"/>
                  <a:cs typeface="Agrandir Wide"/>
                  <a:sym typeface="Agrandir Wide"/>
                </a:rPr>
                <a:t>Data</a:t>
              </a:r>
            </a:p>
          </p:txBody>
        </p:sp>
      </p:grpSp>
      <p:grpSp>
        <p:nvGrpSpPr>
          <p:cNvPr name="Group 5" id="5"/>
          <p:cNvGrpSpPr/>
          <p:nvPr/>
        </p:nvGrpSpPr>
        <p:grpSpPr>
          <a:xfrm rot="0">
            <a:off x="13563257" y="9036466"/>
            <a:ext cx="4374916" cy="1047428"/>
            <a:chOff x="0" y="0"/>
            <a:chExt cx="1152241" cy="275866"/>
          </a:xfrm>
        </p:grpSpPr>
        <p:sp>
          <p:nvSpPr>
            <p:cNvPr name="Freeform 6" id="6"/>
            <p:cNvSpPr/>
            <p:nvPr/>
          </p:nvSpPr>
          <p:spPr>
            <a:xfrm flipH="false" flipV="false" rot="0">
              <a:off x="0" y="0"/>
              <a:ext cx="1152241" cy="275866"/>
            </a:xfrm>
            <a:custGeom>
              <a:avLst/>
              <a:gdLst/>
              <a:ahLst/>
              <a:cxnLst/>
              <a:rect r="r" b="b" t="t" l="l"/>
              <a:pathLst>
                <a:path h="275866" w="1152241">
                  <a:moveTo>
                    <a:pt x="90250" y="0"/>
                  </a:moveTo>
                  <a:lnTo>
                    <a:pt x="1061991" y="0"/>
                  </a:lnTo>
                  <a:cubicBezTo>
                    <a:pt x="1111835" y="0"/>
                    <a:pt x="1152241" y="40406"/>
                    <a:pt x="1152241" y="90250"/>
                  </a:cubicBezTo>
                  <a:lnTo>
                    <a:pt x="1152241" y="185615"/>
                  </a:lnTo>
                  <a:cubicBezTo>
                    <a:pt x="1152241" y="235459"/>
                    <a:pt x="1111835" y="275866"/>
                    <a:pt x="1061991" y="275866"/>
                  </a:cubicBezTo>
                  <a:lnTo>
                    <a:pt x="90250" y="275866"/>
                  </a:lnTo>
                  <a:cubicBezTo>
                    <a:pt x="66315" y="275866"/>
                    <a:pt x="43359" y="266357"/>
                    <a:pt x="26434" y="249432"/>
                  </a:cubicBezTo>
                  <a:cubicBezTo>
                    <a:pt x="9508" y="232507"/>
                    <a:pt x="0" y="209551"/>
                    <a:pt x="0" y="185615"/>
                  </a:cubicBezTo>
                  <a:lnTo>
                    <a:pt x="0" y="90250"/>
                  </a:lnTo>
                  <a:cubicBezTo>
                    <a:pt x="0" y="40406"/>
                    <a:pt x="40406" y="0"/>
                    <a:pt x="90250" y="0"/>
                  </a:cubicBezTo>
                  <a:close/>
                </a:path>
              </a:pathLst>
            </a:custGeom>
            <a:solidFill>
              <a:srgbClr val="000000">
                <a:alpha val="0"/>
              </a:srgbClr>
            </a:solidFill>
            <a:ln w="38100" cap="rnd">
              <a:solidFill>
                <a:srgbClr val="E0CA27"/>
              </a:solidFill>
              <a:prstDash val="solid"/>
              <a:round/>
            </a:ln>
          </p:spPr>
        </p:sp>
        <p:sp>
          <p:nvSpPr>
            <p:cNvPr name="TextBox 7" id="7"/>
            <p:cNvSpPr txBox="true"/>
            <p:nvPr/>
          </p:nvSpPr>
          <p:spPr>
            <a:xfrm>
              <a:off x="0" y="-180975"/>
              <a:ext cx="1152241" cy="456841"/>
            </a:xfrm>
            <a:prstGeom prst="rect">
              <a:avLst/>
            </a:prstGeom>
          </p:spPr>
          <p:txBody>
            <a:bodyPr anchor="ctr" rtlCol="false" tIns="50800" lIns="50800" bIns="50800" rIns="50800"/>
            <a:lstStyle/>
            <a:p>
              <a:pPr algn="ctr">
                <a:lnSpc>
                  <a:spcPts val="5319"/>
                </a:lnSpc>
              </a:pPr>
              <a:r>
                <a:rPr lang="en-US" sz="3799">
                  <a:solidFill>
                    <a:srgbClr val="E0CA27"/>
                  </a:solidFill>
                  <a:latin typeface="Agrandir Wide"/>
                  <a:ea typeface="Agrandir Wide"/>
                  <a:cs typeface="Agrandir Wide"/>
                  <a:sym typeface="Agrandir Wide"/>
                </a:rPr>
                <a:t>Analytics</a:t>
              </a:r>
            </a:p>
          </p:txBody>
        </p:sp>
      </p:grpSp>
      <p:sp>
        <p:nvSpPr>
          <p:cNvPr name="Freeform 8" id="8"/>
          <p:cNvSpPr/>
          <p:nvPr/>
        </p:nvSpPr>
        <p:spPr>
          <a:xfrm flipH="false" flipV="false" rot="0">
            <a:off x="547414" y="3285215"/>
            <a:ext cx="12684060" cy="6738407"/>
          </a:xfrm>
          <a:custGeom>
            <a:avLst/>
            <a:gdLst/>
            <a:ahLst/>
            <a:cxnLst/>
            <a:rect r="r" b="b" t="t" l="l"/>
            <a:pathLst>
              <a:path h="6738407" w="12684060">
                <a:moveTo>
                  <a:pt x="0" y="0"/>
                </a:moveTo>
                <a:lnTo>
                  <a:pt x="12684060" y="0"/>
                </a:lnTo>
                <a:lnTo>
                  <a:pt x="12684060" y="6738407"/>
                </a:lnTo>
                <a:lnTo>
                  <a:pt x="0" y="6738407"/>
                </a:lnTo>
                <a:lnTo>
                  <a:pt x="0" y="0"/>
                </a:lnTo>
                <a:close/>
              </a:path>
            </a:pathLst>
          </a:custGeom>
          <a:blipFill>
            <a:blip r:embed="rId2"/>
            <a:stretch>
              <a:fillRect l="0" t="0" r="0" b="0"/>
            </a:stretch>
          </a:blipFill>
        </p:spPr>
      </p:sp>
      <p:sp>
        <p:nvSpPr>
          <p:cNvPr name="TextBox 9" id="9"/>
          <p:cNvSpPr txBox="true"/>
          <p:nvPr/>
        </p:nvSpPr>
        <p:spPr>
          <a:xfrm rot="0">
            <a:off x="-267926" y="281499"/>
            <a:ext cx="12189098" cy="985634"/>
          </a:xfrm>
          <a:prstGeom prst="rect">
            <a:avLst/>
          </a:prstGeom>
        </p:spPr>
        <p:txBody>
          <a:bodyPr anchor="t" rtlCol="false" tIns="0" lIns="0" bIns="0" rIns="0">
            <a:spAutoFit/>
          </a:bodyPr>
          <a:lstStyle/>
          <a:p>
            <a:pPr algn="l" marL="1208673" indent="-604336" lvl="1">
              <a:lnSpc>
                <a:spcPts val="6382"/>
              </a:lnSpc>
              <a:buFont typeface="Arial"/>
              <a:buChar char="•"/>
            </a:pPr>
            <a:r>
              <a:rPr lang="en-US" sz="5598">
                <a:solidFill>
                  <a:srgbClr val="000000"/>
                </a:solidFill>
                <a:latin typeface="Agrandir Wide"/>
                <a:ea typeface="Agrandir Wide"/>
                <a:cs typeface="Agrandir Wide"/>
                <a:sym typeface="Agrandir Wide"/>
              </a:rPr>
              <a:t>Bots &amp; Fake Accounts</a:t>
            </a:r>
          </a:p>
        </p:txBody>
      </p:sp>
      <p:sp>
        <p:nvSpPr>
          <p:cNvPr name="TextBox 10" id="10"/>
          <p:cNvSpPr txBox="true"/>
          <p:nvPr/>
        </p:nvSpPr>
        <p:spPr>
          <a:xfrm rot="0">
            <a:off x="13902694" y="3069548"/>
            <a:ext cx="3696043" cy="4463012"/>
          </a:xfrm>
          <a:prstGeom prst="rect">
            <a:avLst/>
          </a:prstGeom>
        </p:spPr>
        <p:txBody>
          <a:bodyPr anchor="t" rtlCol="false" tIns="0" lIns="0" bIns="0" rIns="0">
            <a:spAutoFit/>
          </a:bodyPr>
          <a:lstStyle/>
          <a:p>
            <a:pPr algn="l">
              <a:lnSpc>
                <a:spcPts val="4307"/>
              </a:lnSpc>
            </a:pPr>
            <a:r>
              <a:rPr lang="en-US" sz="3811" i="true">
                <a:solidFill>
                  <a:srgbClr val="E0CA27"/>
                </a:solidFill>
                <a:latin typeface="Agrandir Wide Italics"/>
                <a:ea typeface="Agrandir Wide Italics"/>
                <a:cs typeface="Agrandir Wide Italics"/>
                <a:sym typeface="Agrandir Wide Italics"/>
              </a:rPr>
              <a:t>Here’s the output for bots &amp; fake accounts. As all the users are genuine so the output is blank.</a:t>
            </a:r>
          </a:p>
        </p:txBody>
      </p:sp>
      <p:sp>
        <p:nvSpPr>
          <p:cNvPr name="TextBox 11" id="11"/>
          <p:cNvSpPr txBox="true"/>
          <p:nvPr/>
        </p:nvSpPr>
        <p:spPr>
          <a:xfrm rot="0">
            <a:off x="547414" y="1294946"/>
            <a:ext cx="17561447" cy="4620423"/>
          </a:xfrm>
          <a:prstGeom prst="rect">
            <a:avLst/>
          </a:prstGeom>
        </p:spPr>
        <p:txBody>
          <a:bodyPr anchor="t" rtlCol="false" tIns="0" lIns="0" bIns="0" rIns="0">
            <a:spAutoFit/>
          </a:bodyPr>
          <a:lstStyle/>
          <a:p>
            <a:pPr algn="l">
              <a:lnSpc>
                <a:spcPts val="4296"/>
              </a:lnSpc>
            </a:pPr>
            <a:r>
              <a:rPr lang="en-US" sz="3068">
                <a:solidFill>
                  <a:srgbClr val="000000"/>
                </a:solidFill>
                <a:latin typeface="Agrandir Wide"/>
                <a:ea typeface="Agrandir Wide"/>
                <a:cs typeface="Agrandir Wide"/>
                <a:sym typeface="Agrandir Wide"/>
              </a:rPr>
              <a:t>Investors want to know if the platform is crowded with fake and dummy accounts. So, wants me to identify users (potential bots) who have liked every single photo on the site, as this is not typically possible for a normal user.</a:t>
            </a:r>
          </a:p>
          <a:p>
            <a:pPr algn="l">
              <a:lnSpc>
                <a:spcPts val="4296"/>
              </a:lnSpc>
            </a:pPr>
          </a:p>
          <a:p>
            <a:pPr algn="l">
              <a:lnSpc>
                <a:spcPts val="4296"/>
              </a:lnSpc>
            </a:pPr>
          </a:p>
          <a:p>
            <a:pPr algn="l">
              <a:lnSpc>
                <a:spcPts val="5276"/>
              </a:lnSpc>
            </a:pPr>
          </a:p>
          <a:p>
            <a:pPr algn="l">
              <a:lnSpc>
                <a:spcPts val="5276"/>
              </a:lnSpc>
            </a:pPr>
          </a:p>
          <a:p>
            <a:pPr algn="l">
              <a:lnSpc>
                <a:spcPts val="4016"/>
              </a:lnSpc>
            </a:pPr>
          </a:p>
        </p:txBody>
      </p:sp>
    </p:spTree>
  </p:cSld>
  <p:clrMapOvr>
    <a:masterClrMapping/>
  </p:clrMapOvr>
  <p:transition spd="slow">
    <p:push dir="l"/>
  </p:transition>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4F0E9"/>
        </a:solidFill>
      </p:bgPr>
    </p:bg>
    <p:spTree>
      <p:nvGrpSpPr>
        <p:cNvPr id="1" name=""/>
        <p:cNvGrpSpPr/>
        <p:nvPr/>
      </p:nvGrpSpPr>
      <p:grpSpPr>
        <a:xfrm>
          <a:off x="0" y="0"/>
          <a:ext cx="0" cy="0"/>
          <a:chOff x="0" y="0"/>
          <a:chExt cx="0" cy="0"/>
        </a:xfrm>
      </p:grpSpPr>
      <p:sp>
        <p:nvSpPr>
          <p:cNvPr name="Freeform 2" id="2"/>
          <p:cNvSpPr/>
          <p:nvPr/>
        </p:nvSpPr>
        <p:spPr>
          <a:xfrm flipH="false" flipV="false" rot="0">
            <a:off x="9655117" y="2704655"/>
            <a:ext cx="8227375" cy="7229806"/>
          </a:xfrm>
          <a:custGeom>
            <a:avLst/>
            <a:gdLst/>
            <a:ahLst/>
            <a:cxnLst/>
            <a:rect r="r" b="b" t="t" l="l"/>
            <a:pathLst>
              <a:path h="7229806" w="8227375">
                <a:moveTo>
                  <a:pt x="0" y="0"/>
                </a:moveTo>
                <a:lnTo>
                  <a:pt x="8227375" y="0"/>
                </a:lnTo>
                <a:lnTo>
                  <a:pt x="8227375" y="7229806"/>
                </a:lnTo>
                <a:lnTo>
                  <a:pt x="0" y="72298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84442" y="159207"/>
            <a:ext cx="9284579" cy="2973503"/>
          </a:xfrm>
          <a:prstGeom prst="rect">
            <a:avLst/>
          </a:prstGeom>
        </p:spPr>
        <p:txBody>
          <a:bodyPr anchor="t" rtlCol="false" tIns="0" lIns="0" bIns="0" rIns="0">
            <a:spAutoFit/>
          </a:bodyPr>
          <a:lstStyle/>
          <a:p>
            <a:pPr algn="l">
              <a:lnSpc>
                <a:spcPts val="18213"/>
              </a:lnSpc>
            </a:pPr>
            <a:r>
              <a:rPr lang="en-US" sz="18585">
                <a:solidFill>
                  <a:srgbClr val="000000"/>
                </a:solidFill>
                <a:latin typeface="Agrandir Wide"/>
                <a:ea typeface="Agrandir Wide"/>
                <a:cs typeface="Agrandir Wide"/>
                <a:sym typeface="Agrandir Wide"/>
              </a:rPr>
              <a:t>Thanks</a:t>
            </a:r>
          </a:p>
        </p:txBody>
      </p:sp>
      <p:sp>
        <p:nvSpPr>
          <p:cNvPr name="TextBox 4" id="4"/>
          <p:cNvSpPr txBox="true"/>
          <p:nvPr/>
        </p:nvSpPr>
        <p:spPr>
          <a:xfrm rot="0">
            <a:off x="484442" y="9374706"/>
            <a:ext cx="4206435" cy="559755"/>
          </a:xfrm>
          <a:prstGeom prst="rect">
            <a:avLst/>
          </a:prstGeom>
        </p:spPr>
        <p:txBody>
          <a:bodyPr anchor="t" rtlCol="false" tIns="0" lIns="0" bIns="0" rIns="0">
            <a:spAutoFit/>
          </a:bodyPr>
          <a:lstStyle/>
          <a:p>
            <a:pPr algn="l">
              <a:lnSpc>
                <a:spcPts val="3552"/>
              </a:lnSpc>
            </a:pPr>
            <a:r>
              <a:rPr lang="en-US" sz="3383">
                <a:solidFill>
                  <a:srgbClr val="2145B2"/>
                </a:solidFill>
                <a:latin typeface="Agrandir Wide"/>
                <a:ea typeface="Agrandir Wide"/>
                <a:cs typeface="Agrandir Wide"/>
                <a:sym typeface="Agrandir Wide"/>
              </a:rPr>
              <a:t>Mukesh Dey</a:t>
            </a:r>
          </a:p>
        </p:txBody>
      </p:sp>
    </p:spTree>
  </p:cSld>
  <p:clrMapOvr>
    <a:masterClrMapping/>
  </p:clrMapOvr>
  <p:transition spd="slow">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DAGPmb6pAKE</dc:identifier>
  <dcterms:modified xsi:type="dcterms:W3CDTF">2011-08-01T06:04:30Z</dcterms:modified>
  <cp:revision>1</cp:revision>
  <dc:title>Yellow and blue Data Visualization Basics illustrated presentation</dc:title>
</cp:coreProperties>
</file>